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Canva Sans" panose="020B0604020202020204" charset="0"/>
      <p:regular r:id="rId18"/>
    </p:embeddedFont>
    <p:embeddedFont>
      <p:font typeface="Canva Sans Bold" panose="020B0604020202020204" charset="0"/>
      <p:regular r:id="rId19"/>
    </p:embeddedFont>
    <p:embeddedFont>
      <p:font typeface="Helios" panose="020B0604020202020204" charset="0"/>
      <p:regular r:id="rId20"/>
    </p:embeddedFont>
    <p:embeddedFont>
      <p:font typeface="Helios Bold" panose="020B0604020202020204" charset="0"/>
      <p:regular r:id="rId21"/>
    </p:embeddedFont>
    <p:embeddedFont>
      <p:font typeface="Klein Bold"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293"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33FB1D-391E-406C-B5C8-9EED0D8DB3FA}" type="datetimeFigureOut">
              <a:rPr lang="en-IN" smtClean="0"/>
              <a:t>18-08-2025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11AB5C-3AF7-4936-9FAF-8DD0C60BF80B}" type="slidenum">
              <a:rPr lang="en-IN" smtClean="0"/>
              <a:t>‹#›</a:t>
            </a:fld>
            <a:endParaRPr lang="en-IN"/>
          </a:p>
        </p:txBody>
      </p:sp>
    </p:spTree>
    <p:extLst>
      <p:ext uri="{BB962C8B-B14F-4D97-AF65-F5344CB8AC3E}">
        <p14:creationId xmlns:p14="http://schemas.microsoft.com/office/powerpoint/2010/main" val="3419606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A11AB5C-3AF7-4936-9FAF-8DD0C60BF80B}" type="slidenum">
              <a:rPr lang="en-IN" smtClean="0"/>
              <a:t>10</a:t>
            </a:fld>
            <a:endParaRPr lang="en-IN"/>
          </a:p>
        </p:txBody>
      </p:sp>
    </p:spTree>
    <p:extLst>
      <p:ext uri="{BB962C8B-B14F-4D97-AF65-F5344CB8AC3E}">
        <p14:creationId xmlns:p14="http://schemas.microsoft.com/office/powerpoint/2010/main" val="40839546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sv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026040" y="-2124956"/>
            <a:ext cx="8161225" cy="8161225"/>
          </a:xfrm>
          <a:custGeom>
            <a:avLst/>
            <a:gdLst/>
            <a:ahLst/>
            <a:cxnLst/>
            <a:rect l="l" t="t" r="r" b="b"/>
            <a:pathLst>
              <a:path w="8161225" h="8161225">
                <a:moveTo>
                  <a:pt x="0" y="0"/>
                </a:moveTo>
                <a:lnTo>
                  <a:pt x="8161226" y="0"/>
                </a:lnTo>
                <a:lnTo>
                  <a:pt x="8161226" y="8161225"/>
                </a:lnTo>
                <a:lnTo>
                  <a:pt x="0" y="81612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3944576" y="9035252"/>
            <a:ext cx="13041111" cy="547370"/>
          </a:xfrm>
          <a:prstGeom prst="rect">
            <a:avLst/>
          </a:prstGeom>
        </p:spPr>
        <p:txBody>
          <a:bodyPr lIns="0" tIns="0" rIns="0" bIns="0" rtlCol="0" anchor="t">
            <a:spAutoFit/>
          </a:bodyPr>
          <a:lstStyle/>
          <a:p>
            <a:pPr algn="l">
              <a:lnSpc>
                <a:spcPts val="4479"/>
              </a:lnSpc>
            </a:pPr>
            <a:endParaRPr/>
          </a:p>
        </p:txBody>
      </p:sp>
      <p:grpSp>
        <p:nvGrpSpPr>
          <p:cNvPr id="4" name="Group 4"/>
          <p:cNvGrpSpPr/>
          <p:nvPr/>
        </p:nvGrpSpPr>
        <p:grpSpPr>
          <a:xfrm>
            <a:off x="1028700" y="816744"/>
            <a:ext cx="4702618" cy="618185"/>
            <a:chOff x="0" y="0"/>
            <a:chExt cx="6270157" cy="824246"/>
          </a:xfrm>
        </p:grpSpPr>
        <p:sp>
          <p:nvSpPr>
            <p:cNvPr id="5" name="Freeform 5"/>
            <p:cNvSpPr/>
            <p:nvPr/>
          </p:nvSpPr>
          <p:spPr>
            <a:xfrm>
              <a:off x="0" y="0"/>
              <a:ext cx="785282" cy="824246"/>
            </a:xfrm>
            <a:custGeom>
              <a:avLst/>
              <a:gdLst/>
              <a:ahLst/>
              <a:cxnLst/>
              <a:rect l="l" t="t" r="r" b="b"/>
              <a:pathLst>
                <a:path w="785282" h="824246">
                  <a:moveTo>
                    <a:pt x="0" y="0"/>
                  </a:moveTo>
                  <a:lnTo>
                    <a:pt x="785282" y="0"/>
                  </a:lnTo>
                  <a:lnTo>
                    <a:pt x="785282" y="824246"/>
                  </a:lnTo>
                  <a:lnTo>
                    <a:pt x="0" y="82424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1119714" y="116233"/>
              <a:ext cx="5150443" cy="534630"/>
            </a:xfrm>
            <a:prstGeom prst="rect">
              <a:avLst/>
            </a:prstGeom>
          </p:spPr>
          <p:txBody>
            <a:bodyPr lIns="0" tIns="0" rIns="0" bIns="0" rtlCol="0" anchor="t">
              <a:spAutoFit/>
            </a:bodyPr>
            <a:lstStyle/>
            <a:p>
              <a:pPr algn="l">
                <a:lnSpc>
                  <a:spcPts val="3361"/>
                </a:lnSpc>
                <a:spcBef>
                  <a:spcPct val="0"/>
                </a:spcBef>
              </a:pPr>
              <a:r>
                <a:rPr lang="en-US" sz="2401">
                  <a:solidFill>
                    <a:srgbClr val="F4F4F4"/>
                  </a:solidFill>
                  <a:latin typeface="Helios"/>
                  <a:ea typeface="Helios"/>
                  <a:cs typeface="Helios"/>
                  <a:sym typeface="Helios"/>
                </a:rPr>
                <a:t>TEAM 18</a:t>
              </a:r>
            </a:p>
          </p:txBody>
        </p:sp>
      </p:grpSp>
      <p:sp>
        <p:nvSpPr>
          <p:cNvPr id="7" name="Freeform 7"/>
          <p:cNvSpPr/>
          <p:nvPr/>
        </p:nvSpPr>
        <p:spPr>
          <a:xfrm>
            <a:off x="-3407200" y="4432068"/>
            <a:ext cx="5764383" cy="5764383"/>
          </a:xfrm>
          <a:custGeom>
            <a:avLst/>
            <a:gdLst/>
            <a:ahLst/>
            <a:cxnLst/>
            <a:rect l="l" t="t" r="r" b="b"/>
            <a:pathLst>
              <a:path w="5764383" h="5764383">
                <a:moveTo>
                  <a:pt x="0" y="0"/>
                </a:moveTo>
                <a:lnTo>
                  <a:pt x="5764383" y="0"/>
                </a:lnTo>
                <a:lnTo>
                  <a:pt x="5764383" y="5764383"/>
                </a:lnTo>
                <a:lnTo>
                  <a:pt x="0" y="5764383"/>
                </a:lnTo>
                <a:lnTo>
                  <a:pt x="0" y="0"/>
                </a:lnTo>
                <a:close/>
              </a:path>
            </a:pathLst>
          </a:custGeom>
          <a:blipFill>
            <a:blip r:embed="rId2">
              <a:alphaModFix amt="30000"/>
              <a:extLst>
                <a:ext uri="{96DAC541-7B7A-43D3-8B79-37D633B846F1}">
                  <asvg:svgBlip xmlns:asvg="http://schemas.microsoft.com/office/drawing/2016/SVG/main" r:embed="rId3"/>
                </a:ext>
              </a:extLst>
            </a:blip>
            <a:stretch>
              <a:fillRect/>
            </a:stretch>
          </a:blipFill>
        </p:spPr>
      </p:sp>
      <p:sp>
        <p:nvSpPr>
          <p:cNvPr id="8" name="Freeform 8"/>
          <p:cNvSpPr/>
          <p:nvPr/>
        </p:nvSpPr>
        <p:spPr>
          <a:xfrm>
            <a:off x="57078" y="7902203"/>
            <a:ext cx="5764383" cy="5764383"/>
          </a:xfrm>
          <a:custGeom>
            <a:avLst/>
            <a:gdLst/>
            <a:ahLst/>
            <a:cxnLst/>
            <a:rect l="l" t="t" r="r" b="b"/>
            <a:pathLst>
              <a:path w="5764383" h="5764383">
                <a:moveTo>
                  <a:pt x="0" y="0"/>
                </a:moveTo>
                <a:lnTo>
                  <a:pt x="5764383" y="0"/>
                </a:lnTo>
                <a:lnTo>
                  <a:pt x="5764383" y="5764382"/>
                </a:lnTo>
                <a:lnTo>
                  <a:pt x="0" y="5764382"/>
                </a:lnTo>
                <a:lnTo>
                  <a:pt x="0" y="0"/>
                </a:lnTo>
                <a:close/>
              </a:path>
            </a:pathLst>
          </a:custGeom>
          <a:blipFill>
            <a:blip r:embed="rId2">
              <a:alphaModFix amt="80000"/>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4995966" y="1582834"/>
            <a:ext cx="13440365" cy="7999789"/>
            <a:chOff x="0" y="0"/>
            <a:chExt cx="17920486" cy="10666385"/>
          </a:xfrm>
        </p:grpSpPr>
        <p:sp>
          <p:nvSpPr>
            <p:cNvPr id="10" name="TextBox 10"/>
            <p:cNvSpPr txBox="1"/>
            <p:nvPr/>
          </p:nvSpPr>
          <p:spPr>
            <a:xfrm>
              <a:off x="0" y="0"/>
              <a:ext cx="17920486" cy="9702800"/>
            </a:xfrm>
            <a:prstGeom prst="rect">
              <a:avLst/>
            </a:prstGeom>
          </p:spPr>
          <p:txBody>
            <a:bodyPr lIns="0" tIns="0" rIns="0" bIns="0" rtlCol="0" anchor="t">
              <a:spAutoFit/>
            </a:bodyPr>
            <a:lstStyle/>
            <a:p>
              <a:pPr algn="l">
                <a:lnSpc>
                  <a:spcPts val="14399"/>
                </a:lnSpc>
              </a:pPr>
              <a:r>
                <a:rPr lang="en-US" sz="11999" b="1" dirty="0">
                  <a:solidFill>
                    <a:srgbClr val="FFFFFF"/>
                  </a:solidFill>
                  <a:latin typeface="Klein Bold"/>
                  <a:ea typeface="Klein Bold"/>
                  <a:cs typeface="Klein Bold"/>
                  <a:sym typeface="Klein Bold"/>
                </a:rPr>
                <a:t>P</a:t>
              </a:r>
              <a:r>
                <a:rPr lang="en-US" sz="11999" b="1" dirty="0">
                  <a:solidFill>
                    <a:srgbClr val="2A2E3A"/>
                  </a:solidFill>
                  <a:latin typeface="Klein Bold"/>
                  <a:ea typeface="Klein Bold"/>
                  <a:cs typeface="Klein Bold"/>
                  <a:sym typeface="Klein Bold"/>
                </a:rPr>
                <a:t>acket Delay Visualization Using Wireshark Logs</a:t>
              </a:r>
            </a:p>
          </p:txBody>
        </p:sp>
        <p:sp>
          <p:nvSpPr>
            <p:cNvPr id="11" name="TextBox 11"/>
            <p:cNvSpPr txBox="1"/>
            <p:nvPr/>
          </p:nvSpPr>
          <p:spPr>
            <a:xfrm>
              <a:off x="0" y="9958783"/>
              <a:ext cx="17388149" cy="707602"/>
            </a:xfrm>
            <a:prstGeom prst="rect">
              <a:avLst/>
            </a:prstGeom>
          </p:spPr>
          <p:txBody>
            <a:bodyPr lIns="0" tIns="0" rIns="0" bIns="0" rtlCol="0" anchor="t">
              <a:spAutoFit/>
            </a:bodyPr>
            <a:lstStyle/>
            <a:p>
              <a:pPr algn="l">
                <a:lnSpc>
                  <a:spcPts val="4479"/>
                </a:lnSpc>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53969"/>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422911"/>
            <a:chOff x="0" y="0"/>
            <a:chExt cx="24384000" cy="13897215"/>
          </a:xfrm>
        </p:grpSpPr>
        <p:pic>
          <p:nvPicPr>
            <p:cNvPr id="3" name="Picture 3"/>
            <p:cNvPicPr>
              <a:picLocks noChangeAspect="1"/>
            </p:cNvPicPr>
            <p:nvPr/>
          </p:nvPicPr>
          <p:blipFill>
            <a:blip r:embed="rId2">
              <a:alphaModFix amt="14000"/>
            </a:blip>
            <a:srcRect t="645" b="13811"/>
            <a:stretch>
              <a:fillRect/>
            </a:stretch>
          </p:blipFill>
          <p:spPr>
            <a:xfrm>
              <a:off x="0" y="0"/>
              <a:ext cx="24384000" cy="13897215"/>
            </a:xfrm>
            <a:prstGeom prst="rect">
              <a:avLst/>
            </a:prstGeom>
          </p:spPr>
        </p:pic>
      </p:grpSp>
      <p:grpSp>
        <p:nvGrpSpPr>
          <p:cNvPr id="4" name="Group 4"/>
          <p:cNvGrpSpPr/>
          <p:nvPr/>
        </p:nvGrpSpPr>
        <p:grpSpPr>
          <a:xfrm>
            <a:off x="0" y="1886557"/>
            <a:ext cx="18288000" cy="8400443"/>
            <a:chOff x="0" y="0"/>
            <a:chExt cx="4816593" cy="2212462"/>
          </a:xfrm>
        </p:grpSpPr>
        <p:sp>
          <p:nvSpPr>
            <p:cNvPr id="5" name="Freeform 5"/>
            <p:cNvSpPr/>
            <p:nvPr/>
          </p:nvSpPr>
          <p:spPr>
            <a:xfrm>
              <a:off x="0" y="0"/>
              <a:ext cx="4816592" cy="2212462"/>
            </a:xfrm>
            <a:custGeom>
              <a:avLst/>
              <a:gdLst/>
              <a:ahLst/>
              <a:cxnLst/>
              <a:rect l="l" t="t" r="r" b="b"/>
              <a:pathLst>
                <a:path w="4816592" h="2212462">
                  <a:moveTo>
                    <a:pt x="0" y="0"/>
                  </a:moveTo>
                  <a:lnTo>
                    <a:pt x="4816592" y="0"/>
                  </a:lnTo>
                  <a:lnTo>
                    <a:pt x="4816592" y="2212462"/>
                  </a:lnTo>
                  <a:lnTo>
                    <a:pt x="0" y="2212462"/>
                  </a:lnTo>
                  <a:close/>
                </a:path>
              </a:pathLst>
            </a:custGeom>
            <a:solidFill>
              <a:srgbClr val="F4F4F4">
                <a:alpha val="23922"/>
              </a:srgbClr>
            </a:solidFill>
          </p:spPr>
        </p:sp>
        <p:sp>
          <p:nvSpPr>
            <p:cNvPr id="6" name="TextBox 6"/>
            <p:cNvSpPr txBox="1"/>
            <p:nvPr/>
          </p:nvSpPr>
          <p:spPr>
            <a:xfrm>
              <a:off x="0" y="-57150"/>
              <a:ext cx="4816593" cy="2269612"/>
            </a:xfrm>
            <a:prstGeom prst="rect">
              <a:avLst/>
            </a:prstGeom>
          </p:spPr>
          <p:txBody>
            <a:bodyPr lIns="50800" tIns="50800" rIns="50800" bIns="50800" rtlCol="0" anchor="ctr"/>
            <a:lstStyle/>
            <a:p>
              <a:pPr algn="ctr">
                <a:lnSpc>
                  <a:spcPts val="3639"/>
                </a:lnSpc>
              </a:pPr>
              <a:endParaRPr/>
            </a:p>
          </p:txBody>
        </p:sp>
      </p:grpSp>
      <p:sp>
        <p:nvSpPr>
          <p:cNvPr id="7" name="Freeform 7"/>
          <p:cNvSpPr/>
          <p:nvPr/>
        </p:nvSpPr>
        <p:spPr>
          <a:xfrm>
            <a:off x="8333203" y="-1109791"/>
            <a:ext cx="1621594" cy="1621594"/>
          </a:xfrm>
          <a:custGeom>
            <a:avLst/>
            <a:gdLst/>
            <a:ahLst/>
            <a:cxnLst/>
            <a:rect l="l" t="t" r="r" b="b"/>
            <a:pathLst>
              <a:path w="1621594" h="1621594">
                <a:moveTo>
                  <a:pt x="0" y="0"/>
                </a:moveTo>
                <a:lnTo>
                  <a:pt x="1621594" y="0"/>
                </a:lnTo>
                <a:lnTo>
                  <a:pt x="1621594" y="1621594"/>
                </a:lnTo>
                <a:lnTo>
                  <a:pt x="0" y="162159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8" name="Group 8"/>
          <p:cNvGrpSpPr/>
          <p:nvPr/>
        </p:nvGrpSpPr>
        <p:grpSpPr>
          <a:xfrm>
            <a:off x="167179" y="3038499"/>
            <a:ext cx="6920849" cy="1001997"/>
            <a:chOff x="0" y="0"/>
            <a:chExt cx="1822775" cy="263901"/>
          </a:xfrm>
        </p:grpSpPr>
        <p:sp>
          <p:nvSpPr>
            <p:cNvPr id="9" name="Freeform 9"/>
            <p:cNvSpPr/>
            <p:nvPr/>
          </p:nvSpPr>
          <p:spPr>
            <a:xfrm>
              <a:off x="0" y="0"/>
              <a:ext cx="1822775" cy="263901"/>
            </a:xfrm>
            <a:custGeom>
              <a:avLst/>
              <a:gdLst/>
              <a:ahLst/>
              <a:cxnLst/>
              <a:rect l="l" t="t" r="r" b="b"/>
              <a:pathLst>
                <a:path w="1822775" h="263901">
                  <a:moveTo>
                    <a:pt x="49220" y="0"/>
                  </a:moveTo>
                  <a:lnTo>
                    <a:pt x="1773555" y="0"/>
                  </a:lnTo>
                  <a:cubicBezTo>
                    <a:pt x="1786609" y="0"/>
                    <a:pt x="1799128" y="5186"/>
                    <a:pt x="1808359" y="14416"/>
                  </a:cubicBezTo>
                  <a:cubicBezTo>
                    <a:pt x="1817589" y="23647"/>
                    <a:pt x="1822775" y="36166"/>
                    <a:pt x="1822775" y="49220"/>
                  </a:cubicBezTo>
                  <a:lnTo>
                    <a:pt x="1822775" y="214681"/>
                  </a:lnTo>
                  <a:cubicBezTo>
                    <a:pt x="1822775" y="241864"/>
                    <a:pt x="1800738" y="263901"/>
                    <a:pt x="1773555" y="263901"/>
                  </a:cubicBezTo>
                  <a:lnTo>
                    <a:pt x="49220" y="263901"/>
                  </a:lnTo>
                  <a:cubicBezTo>
                    <a:pt x="36166" y="263901"/>
                    <a:pt x="23647" y="258715"/>
                    <a:pt x="14416" y="249484"/>
                  </a:cubicBezTo>
                  <a:cubicBezTo>
                    <a:pt x="5186" y="240254"/>
                    <a:pt x="0" y="227734"/>
                    <a:pt x="0" y="214681"/>
                  </a:cubicBezTo>
                  <a:lnTo>
                    <a:pt x="0" y="49220"/>
                  </a:lnTo>
                  <a:cubicBezTo>
                    <a:pt x="0" y="36166"/>
                    <a:pt x="5186" y="23647"/>
                    <a:pt x="14416" y="14416"/>
                  </a:cubicBezTo>
                  <a:cubicBezTo>
                    <a:pt x="23647" y="5186"/>
                    <a:pt x="36166" y="0"/>
                    <a:pt x="49220" y="0"/>
                  </a:cubicBezTo>
                  <a:close/>
                </a:path>
              </a:pathLst>
            </a:custGeom>
            <a:solidFill>
              <a:srgbClr val="153969"/>
            </a:solidFill>
          </p:spPr>
        </p:sp>
        <p:sp>
          <p:nvSpPr>
            <p:cNvPr id="10" name="TextBox 10"/>
            <p:cNvSpPr txBox="1"/>
            <p:nvPr/>
          </p:nvSpPr>
          <p:spPr>
            <a:xfrm>
              <a:off x="0" y="-57150"/>
              <a:ext cx="1822775" cy="321051"/>
            </a:xfrm>
            <a:prstGeom prst="rect">
              <a:avLst/>
            </a:prstGeom>
          </p:spPr>
          <p:txBody>
            <a:bodyPr lIns="50800" tIns="50800" rIns="50800" bIns="50800" rtlCol="0" anchor="ctr"/>
            <a:lstStyle/>
            <a:p>
              <a:pPr algn="ctr">
                <a:lnSpc>
                  <a:spcPts val="3639"/>
                </a:lnSpc>
              </a:pPr>
              <a:r>
                <a:rPr lang="en-US" sz="2599">
                  <a:solidFill>
                    <a:srgbClr val="FFFFFF"/>
                  </a:solidFill>
                  <a:latin typeface="Helios"/>
                  <a:ea typeface="Helios"/>
                  <a:cs typeface="Helios"/>
                  <a:sym typeface="Helios"/>
                </a:rPr>
                <a:t>Jaya Suriya S</a:t>
              </a:r>
            </a:p>
          </p:txBody>
        </p:sp>
      </p:grpSp>
      <p:sp>
        <p:nvSpPr>
          <p:cNvPr id="11" name="TextBox 11"/>
          <p:cNvSpPr txBox="1"/>
          <p:nvPr/>
        </p:nvSpPr>
        <p:spPr>
          <a:xfrm>
            <a:off x="0" y="58978"/>
            <a:ext cx="7612643" cy="1139825"/>
          </a:xfrm>
          <a:prstGeom prst="rect">
            <a:avLst/>
          </a:prstGeom>
        </p:spPr>
        <p:txBody>
          <a:bodyPr lIns="0" tIns="0" rIns="0" bIns="0" rtlCol="0" anchor="t">
            <a:spAutoFit/>
          </a:bodyPr>
          <a:lstStyle/>
          <a:p>
            <a:pPr algn="ctr">
              <a:lnSpc>
                <a:spcPts val="9099"/>
              </a:lnSpc>
            </a:pPr>
            <a:r>
              <a:rPr lang="en-US" sz="6999" b="1">
                <a:solidFill>
                  <a:srgbClr val="FFFFFF"/>
                </a:solidFill>
                <a:latin typeface="Klein Bold"/>
                <a:ea typeface="Klein Bold"/>
                <a:cs typeface="Klein Bold"/>
                <a:sym typeface="Klein Bold"/>
              </a:rPr>
              <a:t>Over_view</a:t>
            </a:r>
          </a:p>
        </p:txBody>
      </p:sp>
      <p:sp>
        <p:nvSpPr>
          <p:cNvPr id="12" name="TextBox 12"/>
          <p:cNvSpPr txBox="1"/>
          <p:nvPr/>
        </p:nvSpPr>
        <p:spPr>
          <a:xfrm>
            <a:off x="167179" y="1963835"/>
            <a:ext cx="5852621" cy="874214"/>
          </a:xfrm>
          <a:prstGeom prst="rect">
            <a:avLst/>
          </a:prstGeom>
        </p:spPr>
        <p:txBody>
          <a:bodyPr wrap="square" lIns="0" tIns="0" rIns="0" bIns="0" rtlCol="0" anchor="t">
            <a:spAutoFit/>
          </a:bodyPr>
          <a:lstStyle/>
          <a:p>
            <a:pPr algn="ctr">
              <a:lnSpc>
                <a:spcPts val="7279"/>
              </a:lnSpc>
            </a:pPr>
            <a:r>
              <a:rPr lang="en-US" sz="5199" b="1" dirty="0">
                <a:solidFill>
                  <a:srgbClr val="FFFFFF"/>
                </a:solidFill>
                <a:latin typeface="Canva Sans Bold"/>
                <a:ea typeface="Canva Sans Bold"/>
                <a:cs typeface="Canva Sans Bold"/>
                <a:sym typeface="Canva Sans Bold"/>
              </a:rPr>
              <a:t>Team Members</a:t>
            </a:r>
          </a:p>
        </p:txBody>
      </p:sp>
      <p:grpSp>
        <p:nvGrpSpPr>
          <p:cNvPr id="13" name="Group 13"/>
          <p:cNvGrpSpPr/>
          <p:nvPr/>
        </p:nvGrpSpPr>
        <p:grpSpPr>
          <a:xfrm>
            <a:off x="167179" y="4209458"/>
            <a:ext cx="6920849" cy="1001997"/>
            <a:chOff x="0" y="0"/>
            <a:chExt cx="1822775" cy="263901"/>
          </a:xfrm>
        </p:grpSpPr>
        <p:sp>
          <p:nvSpPr>
            <p:cNvPr id="14" name="Freeform 14"/>
            <p:cNvSpPr/>
            <p:nvPr/>
          </p:nvSpPr>
          <p:spPr>
            <a:xfrm>
              <a:off x="0" y="0"/>
              <a:ext cx="1822775" cy="263901"/>
            </a:xfrm>
            <a:custGeom>
              <a:avLst/>
              <a:gdLst/>
              <a:ahLst/>
              <a:cxnLst/>
              <a:rect l="l" t="t" r="r" b="b"/>
              <a:pathLst>
                <a:path w="1822775" h="263901">
                  <a:moveTo>
                    <a:pt x="49220" y="0"/>
                  </a:moveTo>
                  <a:lnTo>
                    <a:pt x="1773555" y="0"/>
                  </a:lnTo>
                  <a:cubicBezTo>
                    <a:pt x="1786609" y="0"/>
                    <a:pt x="1799128" y="5186"/>
                    <a:pt x="1808359" y="14416"/>
                  </a:cubicBezTo>
                  <a:cubicBezTo>
                    <a:pt x="1817589" y="23647"/>
                    <a:pt x="1822775" y="36166"/>
                    <a:pt x="1822775" y="49220"/>
                  </a:cubicBezTo>
                  <a:lnTo>
                    <a:pt x="1822775" y="214681"/>
                  </a:lnTo>
                  <a:cubicBezTo>
                    <a:pt x="1822775" y="241864"/>
                    <a:pt x="1800738" y="263901"/>
                    <a:pt x="1773555" y="263901"/>
                  </a:cubicBezTo>
                  <a:lnTo>
                    <a:pt x="49220" y="263901"/>
                  </a:lnTo>
                  <a:cubicBezTo>
                    <a:pt x="36166" y="263901"/>
                    <a:pt x="23647" y="258715"/>
                    <a:pt x="14416" y="249484"/>
                  </a:cubicBezTo>
                  <a:cubicBezTo>
                    <a:pt x="5186" y="240254"/>
                    <a:pt x="0" y="227734"/>
                    <a:pt x="0" y="214681"/>
                  </a:cubicBezTo>
                  <a:lnTo>
                    <a:pt x="0" y="49220"/>
                  </a:lnTo>
                  <a:cubicBezTo>
                    <a:pt x="0" y="36166"/>
                    <a:pt x="5186" y="23647"/>
                    <a:pt x="14416" y="14416"/>
                  </a:cubicBezTo>
                  <a:cubicBezTo>
                    <a:pt x="23647" y="5186"/>
                    <a:pt x="36166" y="0"/>
                    <a:pt x="49220" y="0"/>
                  </a:cubicBezTo>
                  <a:close/>
                </a:path>
              </a:pathLst>
            </a:custGeom>
            <a:solidFill>
              <a:srgbClr val="153969"/>
            </a:solidFill>
          </p:spPr>
        </p:sp>
        <p:sp>
          <p:nvSpPr>
            <p:cNvPr id="15" name="TextBox 15"/>
            <p:cNvSpPr txBox="1"/>
            <p:nvPr/>
          </p:nvSpPr>
          <p:spPr>
            <a:xfrm>
              <a:off x="0" y="-57150"/>
              <a:ext cx="1822775" cy="321051"/>
            </a:xfrm>
            <a:prstGeom prst="rect">
              <a:avLst/>
            </a:prstGeom>
          </p:spPr>
          <p:txBody>
            <a:bodyPr lIns="50800" tIns="50800" rIns="50800" bIns="50800" rtlCol="0" anchor="ctr"/>
            <a:lstStyle/>
            <a:p>
              <a:pPr algn="ctr">
                <a:lnSpc>
                  <a:spcPts val="3639"/>
                </a:lnSpc>
              </a:pPr>
              <a:r>
                <a:rPr lang="en-US" sz="2599">
                  <a:solidFill>
                    <a:srgbClr val="FFFFFF"/>
                  </a:solidFill>
                  <a:latin typeface="Helios"/>
                  <a:ea typeface="Helios"/>
                  <a:cs typeface="Helios"/>
                  <a:sym typeface="Helios"/>
                </a:rPr>
                <a:t>Keerthivarman S D</a:t>
              </a:r>
            </a:p>
          </p:txBody>
        </p:sp>
      </p:grpSp>
      <p:grpSp>
        <p:nvGrpSpPr>
          <p:cNvPr id="16" name="Group 16"/>
          <p:cNvGrpSpPr/>
          <p:nvPr/>
        </p:nvGrpSpPr>
        <p:grpSpPr>
          <a:xfrm>
            <a:off x="167179" y="5401955"/>
            <a:ext cx="6920849" cy="1001997"/>
            <a:chOff x="0" y="0"/>
            <a:chExt cx="1822775" cy="263901"/>
          </a:xfrm>
        </p:grpSpPr>
        <p:sp>
          <p:nvSpPr>
            <p:cNvPr id="17" name="Freeform 17"/>
            <p:cNvSpPr/>
            <p:nvPr/>
          </p:nvSpPr>
          <p:spPr>
            <a:xfrm>
              <a:off x="0" y="0"/>
              <a:ext cx="1822775" cy="263901"/>
            </a:xfrm>
            <a:custGeom>
              <a:avLst/>
              <a:gdLst/>
              <a:ahLst/>
              <a:cxnLst/>
              <a:rect l="l" t="t" r="r" b="b"/>
              <a:pathLst>
                <a:path w="1822775" h="263901">
                  <a:moveTo>
                    <a:pt x="49220" y="0"/>
                  </a:moveTo>
                  <a:lnTo>
                    <a:pt x="1773555" y="0"/>
                  </a:lnTo>
                  <a:cubicBezTo>
                    <a:pt x="1786609" y="0"/>
                    <a:pt x="1799128" y="5186"/>
                    <a:pt x="1808359" y="14416"/>
                  </a:cubicBezTo>
                  <a:cubicBezTo>
                    <a:pt x="1817589" y="23647"/>
                    <a:pt x="1822775" y="36166"/>
                    <a:pt x="1822775" y="49220"/>
                  </a:cubicBezTo>
                  <a:lnTo>
                    <a:pt x="1822775" y="214681"/>
                  </a:lnTo>
                  <a:cubicBezTo>
                    <a:pt x="1822775" y="241864"/>
                    <a:pt x="1800738" y="263901"/>
                    <a:pt x="1773555" y="263901"/>
                  </a:cubicBezTo>
                  <a:lnTo>
                    <a:pt x="49220" y="263901"/>
                  </a:lnTo>
                  <a:cubicBezTo>
                    <a:pt x="36166" y="263901"/>
                    <a:pt x="23647" y="258715"/>
                    <a:pt x="14416" y="249484"/>
                  </a:cubicBezTo>
                  <a:cubicBezTo>
                    <a:pt x="5186" y="240254"/>
                    <a:pt x="0" y="227734"/>
                    <a:pt x="0" y="214681"/>
                  </a:cubicBezTo>
                  <a:lnTo>
                    <a:pt x="0" y="49220"/>
                  </a:lnTo>
                  <a:cubicBezTo>
                    <a:pt x="0" y="36166"/>
                    <a:pt x="5186" y="23647"/>
                    <a:pt x="14416" y="14416"/>
                  </a:cubicBezTo>
                  <a:cubicBezTo>
                    <a:pt x="23647" y="5186"/>
                    <a:pt x="36166" y="0"/>
                    <a:pt x="49220" y="0"/>
                  </a:cubicBezTo>
                  <a:close/>
                </a:path>
              </a:pathLst>
            </a:custGeom>
            <a:solidFill>
              <a:srgbClr val="153969"/>
            </a:solidFill>
          </p:spPr>
        </p:sp>
        <p:sp>
          <p:nvSpPr>
            <p:cNvPr id="18" name="TextBox 18"/>
            <p:cNvSpPr txBox="1"/>
            <p:nvPr/>
          </p:nvSpPr>
          <p:spPr>
            <a:xfrm>
              <a:off x="0" y="-57150"/>
              <a:ext cx="1822775" cy="321051"/>
            </a:xfrm>
            <a:prstGeom prst="rect">
              <a:avLst/>
            </a:prstGeom>
          </p:spPr>
          <p:txBody>
            <a:bodyPr lIns="50800" tIns="50800" rIns="50800" bIns="50800" rtlCol="0" anchor="ctr"/>
            <a:lstStyle/>
            <a:p>
              <a:pPr algn="ctr">
                <a:lnSpc>
                  <a:spcPts val="3639"/>
                </a:lnSpc>
              </a:pPr>
              <a:r>
                <a:rPr lang="en-US" sz="2599">
                  <a:solidFill>
                    <a:srgbClr val="FFFFFF"/>
                  </a:solidFill>
                  <a:latin typeface="Helios"/>
                  <a:ea typeface="Helios"/>
                  <a:cs typeface="Helios"/>
                  <a:sym typeface="Helios"/>
                </a:rPr>
                <a:t>Parthiban M</a:t>
              </a:r>
            </a:p>
          </p:txBody>
        </p:sp>
      </p:grpSp>
      <p:grpSp>
        <p:nvGrpSpPr>
          <p:cNvPr id="19" name="Group 19"/>
          <p:cNvGrpSpPr/>
          <p:nvPr/>
        </p:nvGrpSpPr>
        <p:grpSpPr>
          <a:xfrm>
            <a:off x="167179" y="6594453"/>
            <a:ext cx="6920849" cy="1001997"/>
            <a:chOff x="0" y="0"/>
            <a:chExt cx="1822775" cy="263901"/>
          </a:xfrm>
        </p:grpSpPr>
        <p:sp>
          <p:nvSpPr>
            <p:cNvPr id="20" name="Freeform 20"/>
            <p:cNvSpPr/>
            <p:nvPr/>
          </p:nvSpPr>
          <p:spPr>
            <a:xfrm>
              <a:off x="0" y="0"/>
              <a:ext cx="1822775" cy="263901"/>
            </a:xfrm>
            <a:custGeom>
              <a:avLst/>
              <a:gdLst/>
              <a:ahLst/>
              <a:cxnLst/>
              <a:rect l="l" t="t" r="r" b="b"/>
              <a:pathLst>
                <a:path w="1822775" h="263901">
                  <a:moveTo>
                    <a:pt x="49220" y="0"/>
                  </a:moveTo>
                  <a:lnTo>
                    <a:pt x="1773555" y="0"/>
                  </a:lnTo>
                  <a:cubicBezTo>
                    <a:pt x="1786609" y="0"/>
                    <a:pt x="1799128" y="5186"/>
                    <a:pt x="1808359" y="14416"/>
                  </a:cubicBezTo>
                  <a:cubicBezTo>
                    <a:pt x="1817589" y="23647"/>
                    <a:pt x="1822775" y="36166"/>
                    <a:pt x="1822775" y="49220"/>
                  </a:cubicBezTo>
                  <a:lnTo>
                    <a:pt x="1822775" y="214681"/>
                  </a:lnTo>
                  <a:cubicBezTo>
                    <a:pt x="1822775" y="241864"/>
                    <a:pt x="1800738" y="263901"/>
                    <a:pt x="1773555" y="263901"/>
                  </a:cubicBezTo>
                  <a:lnTo>
                    <a:pt x="49220" y="263901"/>
                  </a:lnTo>
                  <a:cubicBezTo>
                    <a:pt x="36166" y="263901"/>
                    <a:pt x="23647" y="258715"/>
                    <a:pt x="14416" y="249484"/>
                  </a:cubicBezTo>
                  <a:cubicBezTo>
                    <a:pt x="5186" y="240254"/>
                    <a:pt x="0" y="227734"/>
                    <a:pt x="0" y="214681"/>
                  </a:cubicBezTo>
                  <a:lnTo>
                    <a:pt x="0" y="49220"/>
                  </a:lnTo>
                  <a:cubicBezTo>
                    <a:pt x="0" y="36166"/>
                    <a:pt x="5186" y="23647"/>
                    <a:pt x="14416" y="14416"/>
                  </a:cubicBezTo>
                  <a:cubicBezTo>
                    <a:pt x="23647" y="5186"/>
                    <a:pt x="36166" y="0"/>
                    <a:pt x="49220" y="0"/>
                  </a:cubicBezTo>
                  <a:close/>
                </a:path>
              </a:pathLst>
            </a:custGeom>
            <a:solidFill>
              <a:srgbClr val="153969"/>
            </a:solidFill>
          </p:spPr>
        </p:sp>
        <p:sp>
          <p:nvSpPr>
            <p:cNvPr id="21" name="TextBox 21"/>
            <p:cNvSpPr txBox="1"/>
            <p:nvPr/>
          </p:nvSpPr>
          <p:spPr>
            <a:xfrm>
              <a:off x="0" y="-57150"/>
              <a:ext cx="1822775" cy="321051"/>
            </a:xfrm>
            <a:prstGeom prst="rect">
              <a:avLst/>
            </a:prstGeom>
          </p:spPr>
          <p:txBody>
            <a:bodyPr lIns="50800" tIns="50800" rIns="50800" bIns="50800" rtlCol="0" anchor="ctr"/>
            <a:lstStyle/>
            <a:p>
              <a:pPr algn="ctr">
                <a:lnSpc>
                  <a:spcPts val="3639"/>
                </a:lnSpc>
              </a:pPr>
              <a:r>
                <a:rPr lang="en-US" sz="2599">
                  <a:solidFill>
                    <a:srgbClr val="FFFFFF"/>
                  </a:solidFill>
                  <a:latin typeface="Helios"/>
                  <a:ea typeface="Helios"/>
                  <a:cs typeface="Helios"/>
                  <a:sym typeface="Helios"/>
                </a:rPr>
                <a:t>Mani Kandan S</a:t>
              </a:r>
            </a:p>
          </p:txBody>
        </p:sp>
      </p:grpSp>
      <p:grpSp>
        <p:nvGrpSpPr>
          <p:cNvPr id="22" name="Group 22"/>
          <p:cNvGrpSpPr/>
          <p:nvPr/>
        </p:nvGrpSpPr>
        <p:grpSpPr>
          <a:xfrm>
            <a:off x="7405527" y="3038499"/>
            <a:ext cx="6670756" cy="1001997"/>
            <a:chOff x="0" y="0"/>
            <a:chExt cx="1756907" cy="263901"/>
          </a:xfrm>
        </p:grpSpPr>
        <p:sp>
          <p:nvSpPr>
            <p:cNvPr id="23" name="Freeform 23"/>
            <p:cNvSpPr/>
            <p:nvPr/>
          </p:nvSpPr>
          <p:spPr>
            <a:xfrm>
              <a:off x="0" y="0"/>
              <a:ext cx="1756907" cy="263901"/>
            </a:xfrm>
            <a:custGeom>
              <a:avLst/>
              <a:gdLst/>
              <a:ahLst/>
              <a:cxnLst/>
              <a:rect l="l" t="t" r="r" b="b"/>
              <a:pathLst>
                <a:path w="1756907" h="263901">
                  <a:moveTo>
                    <a:pt x="51065" y="0"/>
                  </a:moveTo>
                  <a:lnTo>
                    <a:pt x="1705842" y="0"/>
                  </a:lnTo>
                  <a:cubicBezTo>
                    <a:pt x="1719385" y="0"/>
                    <a:pt x="1732374" y="5380"/>
                    <a:pt x="1741950" y="14957"/>
                  </a:cubicBezTo>
                  <a:cubicBezTo>
                    <a:pt x="1751527" y="24533"/>
                    <a:pt x="1756907" y="37522"/>
                    <a:pt x="1756907" y="51065"/>
                  </a:cubicBezTo>
                  <a:lnTo>
                    <a:pt x="1756907" y="212835"/>
                  </a:lnTo>
                  <a:cubicBezTo>
                    <a:pt x="1756907" y="241038"/>
                    <a:pt x="1734044" y="263901"/>
                    <a:pt x="1705842" y="263901"/>
                  </a:cubicBezTo>
                  <a:lnTo>
                    <a:pt x="51065" y="263901"/>
                  </a:lnTo>
                  <a:cubicBezTo>
                    <a:pt x="22863" y="263901"/>
                    <a:pt x="0" y="241038"/>
                    <a:pt x="0" y="212835"/>
                  </a:cubicBezTo>
                  <a:lnTo>
                    <a:pt x="0" y="51065"/>
                  </a:lnTo>
                  <a:cubicBezTo>
                    <a:pt x="0" y="22863"/>
                    <a:pt x="22863" y="0"/>
                    <a:pt x="51065" y="0"/>
                  </a:cubicBezTo>
                  <a:close/>
                </a:path>
              </a:pathLst>
            </a:custGeom>
            <a:solidFill>
              <a:srgbClr val="153969"/>
            </a:solidFill>
          </p:spPr>
        </p:sp>
        <p:sp>
          <p:nvSpPr>
            <p:cNvPr id="24" name="TextBox 24"/>
            <p:cNvSpPr txBox="1"/>
            <p:nvPr/>
          </p:nvSpPr>
          <p:spPr>
            <a:xfrm>
              <a:off x="0" y="-57150"/>
              <a:ext cx="1756907" cy="321051"/>
            </a:xfrm>
            <a:prstGeom prst="rect">
              <a:avLst/>
            </a:prstGeom>
          </p:spPr>
          <p:txBody>
            <a:bodyPr lIns="50800" tIns="50800" rIns="50800" bIns="50800" rtlCol="0" anchor="ctr"/>
            <a:lstStyle/>
            <a:p>
              <a:pPr algn="ctr">
                <a:lnSpc>
                  <a:spcPts val="3639"/>
                </a:lnSpc>
              </a:pPr>
              <a:r>
                <a:rPr lang="en-US" sz="2599">
                  <a:solidFill>
                    <a:srgbClr val="FFFFFF"/>
                  </a:solidFill>
                  <a:latin typeface="Helios"/>
                  <a:ea typeface="Helios"/>
                  <a:cs typeface="Helios"/>
                  <a:sym typeface="Helios"/>
                </a:rPr>
                <a:t>2023503012 (CT)</a:t>
              </a:r>
            </a:p>
          </p:txBody>
        </p:sp>
      </p:grpSp>
      <p:grpSp>
        <p:nvGrpSpPr>
          <p:cNvPr id="25" name="Group 25"/>
          <p:cNvGrpSpPr/>
          <p:nvPr/>
        </p:nvGrpSpPr>
        <p:grpSpPr>
          <a:xfrm>
            <a:off x="7405527" y="4209458"/>
            <a:ext cx="6670756" cy="1001997"/>
            <a:chOff x="0" y="0"/>
            <a:chExt cx="1756907" cy="263901"/>
          </a:xfrm>
        </p:grpSpPr>
        <p:sp>
          <p:nvSpPr>
            <p:cNvPr id="26" name="Freeform 26"/>
            <p:cNvSpPr/>
            <p:nvPr/>
          </p:nvSpPr>
          <p:spPr>
            <a:xfrm>
              <a:off x="0" y="0"/>
              <a:ext cx="1756907" cy="263901"/>
            </a:xfrm>
            <a:custGeom>
              <a:avLst/>
              <a:gdLst/>
              <a:ahLst/>
              <a:cxnLst/>
              <a:rect l="l" t="t" r="r" b="b"/>
              <a:pathLst>
                <a:path w="1756907" h="263901">
                  <a:moveTo>
                    <a:pt x="51065" y="0"/>
                  </a:moveTo>
                  <a:lnTo>
                    <a:pt x="1705842" y="0"/>
                  </a:lnTo>
                  <a:cubicBezTo>
                    <a:pt x="1719385" y="0"/>
                    <a:pt x="1732374" y="5380"/>
                    <a:pt x="1741950" y="14957"/>
                  </a:cubicBezTo>
                  <a:cubicBezTo>
                    <a:pt x="1751527" y="24533"/>
                    <a:pt x="1756907" y="37522"/>
                    <a:pt x="1756907" y="51065"/>
                  </a:cubicBezTo>
                  <a:lnTo>
                    <a:pt x="1756907" y="212835"/>
                  </a:lnTo>
                  <a:cubicBezTo>
                    <a:pt x="1756907" y="241038"/>
                    <a:pt x="1734044" y="263901"/>
                    <a:pt x="1705842" y="263901"/>
                  </a:cubicBezTo>
                  <a:lnTo>
                    <a:pt x="51065" y="263901"/>
                  </a:lnTo>
                  <a:cubicBezTo>
                    <a:pt x="22863" y="263901"/>
                    <a:pt x="0" y="241038"/>
                    <a:pt x="0" y="212835"/>
                  </a:cubicBezTo>
                  <a:lnTo>
                    <a:pt x="0" y="51065"/>
                  </a:lnTo>
                  <a:cubicBezTo>
                    <a:pt x="0" y="22863"/>
                    <a:pt x="22863" y="0"/>
                    <a:pt x="51065" y="0"/>
                  </a:cubicBezTo>
                  <a:close/>
                </a:path>
              </a:pathLst>
            </a:custGeom>
            <a:solidFill>
              <a:srgbClr val="153969"/>
            </a:solidFill>
          </p:spPr>
        </p:sp>
        <p:sp>
          <p:nvSpPr>
            <p:cNvPr id="27" name="TextBox 27"/>
            <p:cNvSpPr txBox="1"/>
            <p:nvPr/>
          </p:nvSpPr>
          <p:spPr>
            <a:xfrm>
              <a:off x="0" y="-57150"/>
              <a:ext cx="1756907" cy="321051"/>
            </a:xfrm>
            <a:prstGeom prst="rect">
              <a:avLst/>
            </a:prstGeom>
          </p:spPr>
          <p:txBody>
            <a:bodyPr lIns="50800" tIns="50800" rIns="50800" bIns="50800" rtlCol="0" anchor="ctr"/>
            <a:lstStyle/>
            <a:p>
              <a:pPr algn="ctr">
                <a:lnSpc>
                  <a:spcPts val="3639"/>
                </a:lnSpc>
              </a:pPr>
              <a:r>
                <a:rPr lang="en-US" sz="2599">
                  <a:solidFill>
                    <a:srgbClr val="FFFFFF"/>
                  </a:solidFill>
                  <a:latin typeface="Helios"/>
                  <a:ea typeface="Helios"/>
                  <a:cs typeface="Helios"/>
                  <a:sym typeface="Helios"/>
                </a:rPr>
                <a:t>2023503014 (CT)</a:t>
              </a:r>
            </a:p>
          </p:txBody>
        </p:sp>
      </p:grpSp>
      <p:grpSp>
        <p:nvGrpSpPr>
          <p:cNvPr id="28" name="Group 28"/>
          <p:cNvGrpSpPr/>
          <p:nvPr/>
        </p:nvGrpSpPr>
        <p:grpSpPr>
          <a:xfrm>
            <a:off x="7405527" y="5401955"/>
            <a:ext cx="6670756" cy="1001997"/>
            <a:chOff x="0" y="0"/>
            <a:chExt cx="1756907" cy="263901"/>
          </a:xfrm>
        </p:grpSpPr>
        <p:sp>
          <p:nvSpPr>
            <p:cNvPr id="29" name="Freeform 29"/>
            <p:cNvSpPr/>
            <p:nvPr/>
          </p:nvSpPr>
          <p:spPr>
            <a:xfrm>
              <a:off x="0" y="0"/>
              <a:ext cx="1756907" cy="263901"/>
            </a:xfrm>
            <a:custGeom>
              <a:avLst/>
              <a:gdLst/>
              <a:ahLst/>
              <a:cxnLst/>
              <a:rect l="l" t="t" r="r" b="b"/>
              <a:pathLst>
                <a:path w="1756907" h="263901">
                  <a:moveTo>
                    <a:pt x="51065" y="0"/>
                  </a:moveTo>
                  <a:lnTo>
                    <a:pt x="1705842" y="0"/>
                  </a:lnTo>
                  <a:cubicBezTo>
                    <a:pt x="1719385" y="0"/>
                    <a:pt x="1732374" y="5380"/>
                    <a:pt x="1741950" y="14957"/>
                  </a:cubicBezTo>
                  <a:cubicBezTo>
                    <a:pt x="1751527" y="24533"/>
                    <a:pt x="1756907" y="37522"/>
                    <a:pt x="1756907" y="51065"/>
                  </a:cubicBezTo>
                  <a:lnTo>
                    <a:pt x="1756907" y="212835"/>
                  </a:lnTo>
                  <a:cubicBezTo>
                    <a:pt x="1756907" y="241038"/>
                    <a:pt x="1734044" y="263901"/>
                    <a:pt x="1705842" y="263901"/>
                  </a:cubicBezTo>
                  <a:lnTo>
                    <a:pt x="51065" y="263901"/>
                  </a:lnTo>
                  <a:cubicBezTo>
                    <a:pt x="22863" y="263901"/>
                    <a:pt x="0" y="241038"/>
                    <a:pt x="0" y="212835"/>
                  </a:cubicBezTo>
                  <a:lnTo>
                    <a:pt x="0" y="51065"/>
                  </a:lnTo>
                  <a:cubicBezTo>
                    <a:pt x="0" y="22863"/>
                    <a:pt x="22863" y="0"/>
                    <a:pt x="51065" y="0"/>
                  </a:cubicBezTo>
                  <a:close/>
                </a:path>
              </a:pathLst>
            </a:custGeom>
            <a:solidFill>
              <a:srgbClr val="153969"/>
            </a:solidFill>
          </p:spPr>
        </p:sp>
        <p:sp>
          <p:nvSpPr>
            <p:cNvPr id="30" name="TextBox 30"/>
            <p:cNvSpPr txBox="1"/>
            <p:nvPr/>
          </p:nvSpPr>
          <p:spPr>
            <a:xfrm>
              <a:off x="0" y="-57150"/>
              <a:ext cx="1756907" cy="321051"/>
            </a:xfrm>
            <a:prstGeom prst="rect">
              <a:avLst/>
            </a:prstGeom>
          </p:spPr>
          <p:txBody>
            <a:bodyPr lIns="50800" tIns="50800" rIns="50800" bIns="50800" rtlCol="0" anchor="ctr"/>
            <a:lstStyle/>
            <a:p>
              <a:pPr algn="ctr">
                <a:lnSpc>
                  <a:spcPts val="3639"/>
                </a:lnSpc>
              </a:pPr>
              <a:r>
                <a:rPr lang="en-US" sz="2599">
                  <a:solidFill>
                    <a:srgbClr val="FFFFFF"/>
                  </a:solidFill>
                  <a:latin typeface="Helios"/>
                  <a:ea typeface="Helios"/>
                  <a:cs typeface="Helios"/>
                  <a:sym typeface="Helios"/>
                </a:rPr>
                <a:t>2023503301 (CT)</a:t>
              </a:r>
            </a:p>
          </p:txBody>
        </p:sp>
      </p:grpSp>
      <p:grpSp>
        <p:nvGrpSpPr>
          <p:cNvPr id="31" name="Group 31"/>
          <p:cNvGrpSpPr/>
          <p:nvPr/>
        </p:nvGrpSpPr>
        <p:grpSpPr>
          <a:xfrm>
            <a:off x="7405527" y="6594453"/>
            <a:ext cx="6670756" cy="1001997"/>
            <a:chOff x="0" y="0"/>
            <a:chExt cx="1756907" cy="263901"/>
          </a:xfrm>
        </p:grpSpPr>
        <p:sp>
          <p:nvSpPr>
            <p:cNvPr id="32" name="Freeform 32"/>
            <p:cNvSpPr/>
            <p:nvPr/>
          </p:nvSpPr>
          <p:spPr>
            <a:xfrm>
              <a:off x="0" y="0"/>
              <a:ext cx="1756907" cy="263901"/>
            </a:xfrm>
            <a:custGeom>
              <a:avLst/>
              <a:gdLst/>
              <a:ahLst/>
              <a:cxnLst/>
              <a:rect l="l" t="t" r="r" b="b"/>
              <a:pathLst>
                <a:path w="1756907" h="263901">
                  <a:moveTo>
                    <a:pt x="51065" y="0"/>
                  </a:moveTo>
                  <a:lnTo>
                    <a:pt x="1705842" y="0"/>
                  </a:lnTo>
                  <a:cubicBezTo>
                    <a:pt x="1719385" y="0"/>
                    <a:pt x="1732374" y="5380"/>
                    <a:pt x="1741950" y="14957"/>
                  </a:cubicBezTo>
                  <a:cubicBezTo>
                    <a:pt x="1751527" y="24533"/>
                    <a:pt x="1756907" y="37522"/>
                    <a:pt x="1756907" y="51065"/>
                  </a:cubicBezTo>
                  <a:lnTo>
                    <a:pt x="1756907" y="212835"/>
                  </a:lnTo>
                  <a:cubicBezTo>
                    <a:pt x="1756907" y="241038"/>
                    <a:pt x="1734044" y="263901"/>
                    <a:pt x="1705842" y="263901"/>
                  </a:cubicBezTo>
                  <a:lnTo>
                    <a:pt x="51065" y="263901"/>
                  </a:lnTo>
                  <a:cubicBezTo>
                    <a:pt x="22863" y="263901"/>
                    <a:pt x="0" y="241038"/>
                    <a:pt x="0" y="212835"/>
                  </a:cubicBezTo>
                  <a:lnTo>
                    <a:pt x="0" y="51065"/>
                  </a:lnTo>
                  <a:cubicBezTo>
                    <a:pt x="0" y="22863"/>
                    <a:pt x="22863" y="0"/>
                    <a:pt x="51065" y="0"/>
                  </a:cubicBezTo>
                  <a:close/>
                </a:path>
              </a:pathLst>
            </a:custGeom>
            <a:solidFill>
              <a:srgbClr val="153969"/>
            </a:solidFill>
          </p:spPr>
        </p:sp>
        <p:sp>
          <p:nvSpPr>
            <p:cNvPr id="33" name="TextBox 33"/>
            <p:cNvSpPr txBox="1"/>
            <p:nvPr/>
          </p:nvSpPr>
          <p:spPr>
            <a:xfrm>
              <a:off x="0" y="-57150"/>
              <a:ext cx="1756907" cy="321051"/>
            </a:xfrm>
            <a:prstGeom prst="rect">
              <a:avLst/>
            </a:prstGeom>
          </p:spPr>
          <p:txBody>
            <a:bodyPr lIns="50800" tIns="50800" rIns="50800" bIns="50800" rtlCol="0" anchor="ctr"/>
            <a:lstStyle/>
            <a:p>
              <a:pPr algn="ctr">
                <a:lnSpc>
                  <a:spcPts val="3639"/>
                </a:lnSpc>
              </a:pPr>
              <a:r>
                <a:rPr lang="en-US" sz="2599">
                  <a:solidFill>
                    <a:srgbClr val="FFFFFF"/>
                  </a:solidFill>
                  <a:latin typeface="Helios"/>
                  <a:ea typeface="Helios"/>
                  <a:cs typeface="Helios"/>
                  <a:sym typeface="Helios"/>
                </a:rPr>
                <a:t>2023503310 (CT)</a:t>
              </a:r>
            </a:p>
          </p:txBody>
        </p:sp>
      </p:grpSp>
      <p:sp>
        <p:nvSpPr>
          <p:cNvPr id="34" name="TextBox 34"/>
          <p:cNvSpPr txBox="1"/>
          <p:nvPr/>
        </p:nvSpPr>
        <p:spPr>
          <a:xfrm>
            <a:off x="376549" y="7930881"/>
            <a:ext cx="2529364" cy="887095"/>
          </a:xfrm>
          <a:prstGeom prst="rect">
            <a:avLst/>
          </a:prstGeom>
        </p:spPr>
        <p:txBody>
          <a:bodyPr lIns="0" tIns="0" rIns="0" bIns="0" rtlCol="0" anchor="t">
            <a:spAutoFit/>
          </a:bodyPr>
          <a:lstStyle/>
          <a:p>
            <a:pPr algn="ctr">
              <a:lnSpc>
                <a:spcPts val="7279"/>
              </a:lnSpc>
            </a:pPr>
            <a:r>
              <a:rPr lang="en-US" sz="5199" b="1" dirty="0">
                <a:solidFill>
                  <a:srgbClr val="FFFFFF"/>
                </a:solidFill>
                <a:latin typeface="Canva Sans Bold"/>
                <a:ea typeface="Canva Sans Bold"/>
                <a:cs typeface="Canva Sans Bold"/>
                <a:sym typeface="Canva Sans Bold"/>
              </a:rPr>
              <a:t>Mentor </a:t>
            </a:r>
          </a:p>
        </p:txBody>
      </p:sp>
      <p:grpSp>
        <p:nvGrpSpPr>
          <p:cNvPr id="35" name="Group 35"/>
          <p:cNvGrpSpPr/>
          <p:nvPr/>
        </p:nvGrpSpPr>
        <p:grpSpPr>
          <a:xfrm>
            <a:off x="3806321" y="8977575"/>
            <a:ext cx="6920849" cy="1001997"/>
            <a:chOff x="0" y="0"/>
            <a:chExt cx="1822775" cy="263901"/>
          </a:xfrm>
        </p:grpSpPr>
        <p:sp>
          <p:nvSpPr>
            <p:cNvPr id="36" name="Freeform 36"/>
            <p:cNvSpPr/>
            <p:nvPr/>
          </p:nvSpPr>
          <p:spPr>
            <a:xfrm>
              <a:off x="0" y="0"/>
              <a:ext cx="1822775" cy="263901"/>
            </a:xfrm>
            <a:custGeom>
              <a:avLst/>
              <a:gdLst/>
              <a:ahLst/>
              <a:cxnLst/>
              <a:rect l="l" t="t" r="r" b="b"/>
              <a:pathLst>
                <a:path w="1822775" h="263901">
                  <a:moveTo>
                    <a:pt x="49220" y="0"/>
                  </a:moveTo>
                  <a:lnTo>
                    <a:pt x="1773555" y="0"/>
                  </a:lnTo>
                  <a:cubicBezTo>
                    <a:pt x="1786609" y="0"/>
                    <a:pt x="1799128" y="5186"/>
                    <a:pt x="1808359" y="14416"/>
                  </a:cubicBezTo>
                  <a:cubicBezTo>
                    <a:pt x="1817589" y="23647"/>
                    <a:pt x="1822775" y="36166"/>
                    <a:pt x="1822775" y="49220"/>
                  </a:cubicBezTo>
                  <a:lnTo>
                    <a:pt x="1822775" y="214681"/>
                  </a:lnTo>
                  <a:cubicBezTo>
                    <a:pt x="1822775" y="241864"/>
                    <a:pt x="1800738" y="263901"/>
                    <a:pt x="1773555" y="263901"/>
                  </a:cubicBezTo>
                  <a:lnTo>
                    <a:pt x="49220" y="263901"/>
                  </a:lnTo>
                  <a:cubicBezTo>
                    <a:pt x="36166" y="263901"/>
                    <a:pt x="23647" y="258715"/>
                    <a:pt x="14416" y="249484"/>
                  </a:cubicBezTo>
                  <a:cubicBezTo>
                    <a:pt x="5186" y="240254"/>
                    <a:pt x="0" y="227734"/>
                    <a:pt x="0" y="214681"/>
                  </a:cubicBezTo>
                  <a:lnTo>
                    <a:pt x="0" y="49220"/>
                  </a:lnTo>
                  <a:cubicBezTo>
                    <a:pt x="0" y="36166"/>
                    <a:pt x="5186" y="23647"/>
                    <a:pt x="14416" y="14416"/>
                  </a:cubicBezTo>
                  <a:cubicBezTo>
                    <a:pt x="23647" y="5186"/>
                    <a:pt x="36166" y="0"/>
                    <a:pt x="49220" y="0"/>
                  </a:cubicBezTo>
                  <a:close/>
                </a:path>
              </a:pathLst>
            </a:custGeom>
            <a:solidFill>
              <a:srgbClr val="153969"/>
            </a:solidFill>
          </p:spPr>
        </p:sp>
        <p:sp>
          <p:nvSpPr>
            <p:cNvPr id="37" name="TextBox 37"/>
            <p:cNvSpPr txBox="1"/>
            <p:nvPr/>
          </p:nvSpPr>
          <p:spPr>
            <a:xfrm>
              <a:off x="0" y="-57150"/>
              <a:ext cx="1822775" cy="321051"/>
            </a:xfrm>
            <a:prstGeom prst="rect">
              <a:avLst/>
            </a:prstGeom>
          </p:spPr>
          <p:txBody>
            <a:bodyPr lIns="50800" tIns="50800" rIns="50800" bIns="50800" rtlCol="0" anchor="ctr"/>
            <a:lstStyle/>
            <a:p>
              <a:pPr algn="ctr">
                <a:lnSpc>
                  <a:spcPts val="3639"/>
                </a:lnSpc>
              </a:pPr>
              <a:r>
                <a:rPr lang="en-US" sz="2599">
                  <a:solidFill>
                    <a:srgbClr val="FFFFFF"/>
                  </a:solidFill>
                  <a:latin typeface="Helios"/>
                  <a:ea typeface="Helios"/>
                  <a:cs typeface="Helios"/>
                  <a:sym typeface="Helios"/>
                </a:rPr>
                <a:t>Haritha Priyadharshini 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7"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1000" fill="hold"/>
                                        <p:tgtEl>
                                          <p:spTgt spid="8"/>
                                        </p:tgtEl>
                                        <p:attrNameLst>
                                          <p:attrName>ppt_y</p:attrName>
                                        </p:attrNameLst>
                                      </p:cBhvr>
                                      <p:tavLst>
                                        <p:tav tm="0">
                                          <p:val>
                                            <p:strVal val="#ppt_y-.1"/>
                                          </p:val>
                                        </p:tav>
                                        <p:tav tm="100000">
                                          <p:val>
                                            <p:strVal val="#ppt_y"/>
                                          </p:val>
                                        </p:tav>
                                      </p:tavLst>
                                    </p:anim>
                                  </p:childTnLst>
                                </p:cTn>
                              </p:par>
                              <p:par>
                                <p:cTn id="14" presetID="47"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1000"/>
                                        <p:tgtEl>
                                          <p:spTgt spid="13"/>
                                        </p:tgtEl>
                                      </p:cBhvr>
                                    </p:animEffect>
                                    <p:anim calcmode="lin" valueType="num">
                                      <p:cBhvr>
                                        <p:cTn id="17" dur="1000" fill="hold"/>
                                        <p:tgtEl>
                                          <p:spTgt spid="13"/>
                                        </p:tgtEl>
                                        <p:attrNameLst>
                                          <p:attrName>ppt_x</p:attrName>
                                        </p:attrNameLst>
                                      </p:cBhvr>
                                      <p:tavLst>
                                        <p:tav tm="0">
                                          <p:val>
                                            <p:strVal val="#ppt_x"/>
                                          </p:val>
                                        </p:tav>
                                        <p:tav tm="100000">
                                          <p:val>
                                            <p:strVal val="#ppt_x"/>
                                          </p:val>
                                        </p:tav>
                                      </p:tavLst>
                                    </p:anim>
                                    <p:anim calcmode="lin" valueType="num">
                                      <p:cBhvr>
                                        <p:cTn id="18" dur="1000" fill="hold"/>
                                        <p:tgtEl>
                                          <p:spTgt spid="13"/>
                                        </p:tgtEl>
                                        <p:attrNameLst>
                                          <p:attrName>ppt_y</p:attrName>
                                        </p:attrNameLst>
                                      </p:cBhvr>
                                      <p:tavLst>
                                        <p:tav tm="0">
                                          <p:val>
                                            <p:strVal val="#ppt_y-.1"/>
                                          </p:val>
                                        </p:tav>
                                        <p:tav tm="100000">
                                          <p:val>
                                            <p:strVal val="#ppt_y"/>
                                          </p:val>
                                        </p:tav>
                                      </p:tavLst>
                                    </p:anim>
                                  </p:childTnLst>
                                </p:cTn>
                              </p:par>
                              <p:par>
                                <p:cTn id="19" presetID="47"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1000"/>
                                        <p:tgtEl>
                                          <p:spTgt spid="16"/>
                                        </p:tgtEl>
                                      </p:cBhvr>
                                    </p:animEffect>
                                    <p:anim calcmode="lin" valueType="num">
                                      <p:cBhvr>
                                        <p:cTn id="22" dur="1000" fill="hold"/>
                                        <p:tgtEl>
                                          <p:spTgt spid="16"/>
                                        </p:tgtEl>
                                        <p:attrNameLst>
                                          <p:attrName>ppt_x</p:attrName>
                                        </p:attrNameLst>
                                      </p:cBhvr>
                                      <p:tavLst>
                                        <p:tav tm="0">
                                          <p:val>
                                            <p:strVal val="#ppt_x"/>
                                          </p:val>
                                        </p:tav>
                                        <p:tav tm="100000">
                                          <p:val>
                                            <p:strVal val="#ppt_x"/>
                                          </p:val>
                                        </p:tav>
                                      </p:tavLst>
                                    </p:anim>
                                    <p:anim calcmode="lin" valueType="num">
                                      <p:cBhvr>
                                        <p:cTn id="23" dur="1000" fill="hold"/>
                                        <p:tgtEl>
                                          <p:spTgt spid="16"/>
                                        </p:tgtEl>
                                        <p:attrNameLst>
                                          <p:attrName>ppt_y</p:attrName>
                                        </p:attrNameLst>
                                      </p:cBhvr>
                                      <p:tavLst>
                                        <p:tav tm="0">
                                          <p:val>
                                            <p:strVal val="#ppt_y-.1"/>
                                          </p:val>
                                        </p:tav>
                                        <p:tav tm="100000">
                                          <p:val>
                                            <p:strVal val="#ppt_y"/>
                                          </p:val>
                                        </p:tav>
                                      </p:tavLst>
                                    </p:anim>
                                  </p:childTnLst>
                                </p:cTn>
                              </p:par>
                              <p:par>
                                <p:cTn id="24" presetID="47" presetClass="entr" presetSubtype="0" fill="hold"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1000"/>
                                        <p:tgtEl>
                                          <p:spTgt spid="19"/>
                                        </p:tgtEl>
                                      </p:cBhvr>
                                    </p:animEffect>
                                    <p:anim calcmode="lin" valueType="num">
                                      <p:cBhvr>
                                        <p:cTn id="27" dur="1000" fill="hold"/>
                                        <p:tgtEl>
                                          <p:spTgt spid="19"/>
                                        </p:tgtEl>
                                        <p:attrNameLst>
                                          <p:attrName>ppt_x</p:attrName>
                                        </p:attrNameLst>
                                      </p:cBhvr>
                                      <p:tavLst>
                                        <p:tav tm="0">
                                          <p:val>
                                            <p:strVal val="#ppt_x"/>
                                          </p:val>
                                        </p:tav>
                                        <p:tav tm="100000">
                                          <p:val>
                                            <p:strVal val="#ppt_x"/>
                                          </p:val>
                                        </p:tav>
                                      </p:tavLst>
                                    </p:anim>
                                    <p:anim calcmode="lin" valueType="num">
                                      <p:cBhvr>
                                        <p:cTn id="28" dur="1000" fill="hold"/>
                                        <p:tgtEl>
                                          <p:spTgt spid="19"/>
                                        </p:tgtEl>
                                        <p:attrNameLst>
                                          <p:attrName>ppt_y</p:attrName>
                                        </p:attrNameLst>
                                      </p:cBhvr>
                                      <p:tavLst>
                                        <p:tav tm="0">
                                          <p:val>
                                            <p:strVal val="#ppt_y-.1"/>
                                          </p:val>
                                        </p:tav>
                                        <p:tav tm="100000">
                                          <p:val>
                                            <p:strVal val="#ppt_y"/>
                                          </p:val>
                                        </p:tav>
                                      </p:tavLst>
                                    </p:anim>
                                  </p:childTnLst>
                                </p:cTn>
                              </p:par>
                              <p:par>
                                <p:cTn id="29" presetID="47"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1000"/>
                                        <p:tgtEl>
                                          <p:spTgt spid="22"/>
                                        </p:tgtEl>
                                      </p:cBhvr>
                                    </p:animEffect>
                                    <p:anim calcmode="lin" valueType="num">
                                      <p:cBhvr>
                                        <p:cTn id="32" dur="1000" fill="hold"/>
                                        <p:tgtEl>
                                          <p:spTgt spid="22"/>
                                        </p:tgtEl>
                                        <p:attrNameLst>
                                          <p:attrName>ppt_x</p:attrName>
                                        </p:attrNameLst>
                                      </p:cBhvr>
                                      <p:tavLst>
                                        <p:tav tm="0">
                                          <p:val>
                                            <p:strVal val="#ppt_x"/>
                                          </p:val>
                                        </p:tav>
                                        <p:tav tm="100000">
                                          <p:val>
                                            <p:strVal val="#ppt_x"/>
                                          </p:val>
                                        </p:tav>
                                      </p:tavLst>
                                    </p:anim>
                                    <p:anim calcmode="lin" valueType="num">
                                      <p:cBhvr>
                                        <p:cTn id="33" dur="1000" fill="hold"/>
                                        <p:tgtEl>
                                          <p:spTgt spid="22"/>
                                        </p:tgtEl>
                                        <p:attrNameLst>
                                          <p:attrName>ppt_y</p:attrName>
                                        </p:attrNameLst>
                                      </p:cBhvr>
                                      <p:tavLst>
                                        <p:tav tm="0">
                                          <p:val>
                                            <p:strVal val="#ppt_y-.1"/>
                                          </p:val>
                                        </p:tav>
                                        <p:tav tm="100000">
                                          <p:val>
                                            <p:strVal val="#ppt_y"/>
                                          </p:val>
                                        </p:tav>
                                      </p:tavLst>
                                    </p:anim>
                                  </p:childTnLst>
                                </p:cTn>
                              </p:par>
                              <p:par>
                                <p:cTn id="34" presetID="47" presetClass="entr" presetSubtype="0" fill="hold" nodeType="with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1000"/>
                                        <p:tgtEl>
                                          <p:spTgt spid="25"/>
                                        </p:tgtEl>
                                      </p:cBhvr>
                                    </p:animEffect>
                                    <p:anim calcmode="lin" valueType="num">
                                      <p:cBhvr>
                                        <p:cTn id="37" dur="1000" fill="hold"/>
                                        <p:tgtEl>
                                          <p:spTgt spid="25"/>
                                        </p:tgtEl>
                                        <p:attrNameLst>
                                          <p:attrName>ppt_x</p:attrName>
                                        </p:attrNameLst>
                                      </p:cBhvr>
                                      <p:tavLst>
                                        <p:tav tm="0">
                                          <p:val>
                                            <p:strVal val="#ppt_x"/>
                                          </p:val>
                                        </p:tav>
                                        <p:tav tm="100000">
                                          <p:val>
                                            <p:strVal val="#ppt_x"/>
                                          </p:val>
                                        </p:tav>
                                      </p:tavLst>
                                    </p:anim>
                                    <p:anim calcmode="lin" valueType="num">
                                      <p:cBhvr>
                                        <p:cTn id="38" dur="1000" fill="hold"/>
                                        <p:tgtEl>
                                          <p:spTgt spid="25"/>
                                        </p:tgtEl>
                                        <p:attrNameLst>
                                          <p:attrName>ppt_y</p:attrName>
                                        </p:attrNameLst>
                                      </p:cBhvr>
                                      <p:tavLst>
                                        <p:tav tm="0">
                                          <p:val>
                                            <p:strVal val="#ppt_y-.1"/>
                                          </p:val>
                                        </p:tav>
                                        <p:tav tm="100000">
                                          <p:val>
                                            <p:strVal val="#ppt_y"/>
                                          </p:val>
                                        </p:tav>
                                      </p:tavLst>
                                    </p:anim>
                                  </p:childTnLst>
                                </p:cTn>
                              </p:par>
                              <p:par>
                                <p:cTn id="39" presetID="47" presetClass="entr" presetSubtype="0" fill="hold" nodeType="with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1000"/>
                                        <p:tgtEl>
                                          <p:spTgt spid="28"/>
                                        </p:tgtEl>
                                      </p:cBhvr>
                                    </p:animEffect>
                                    <p:anim calcmode="lin" valueType="num">
                                      <p:cBhvr>
                                        <p:cTn id="42" dur="1000" fill="hold"/>
                                        <p:tgtEl>
                                          <p:spTgt spid="28"/>
                                        </p:tgtEl>
                                        <p:attrNameLst>
                                          <p:attrName>ppt_x</p:attrName>
                                        </p:attrNameLst>
                                      </p:cBhvr>
                                      <p:tavLst>
                                        <p:tav tm="0">
                                          <p:val>
                                            <p:strVal val="#ppt_x"/>
                                          </p:val>
                                        </p:tav>
                                        <p:tav tm="100000">
                                          <p:val>
                                            <p:strVal val="#ppt_x"/>
                                          </p:val>
                                        </p:tav>
                                      </p:tavLst>
                                    </p:anim>
                                    <p:anim calcmode="lin" valueType="num">
                                      <p:cBhvr>
                                        <p:cTn id="43" dur="1000" fill="hold"/>
                                        <p:tgtEl>
                                          <p:spTgt spid="28"/>
                                        </p:tgtEl>
                                        <p:attrNameLst>
                                          <p:attrName>ppt_y</p:attrName>
                                        </p:attrNameLst>
                                      </p:cBhvr>
                                      <p:tavLst>
                                        <p:tav tm="0">
                                          <p:val>
                                            <p:strVal val="#ppt_y-.1"/>
                                          </p:val>
                                        </p:tav>
                                        <p:tav tm="100000">
                                          <p:val>
                                            <p:strVal val="#ppt_y"/>
                                          </p:val>
                                        </p:tav>
                                      </p:tavLst>
                                    </p:anim>
                                  </p:childTnLst>
                                </p:cTn>
                              </p:par>
                              <p:par>
                                <p:cTn id="44" presetID="47" presetClass="entr" presetSubtype="0" fill="hold" nodeType="with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fade">
                                      <p:cBhvr>
                                        <p:cTn id="46" dur="1000"/>
                                        <p:tgtEl>
                                          <p:spTgt spid="31"/>
                                        </p:tgtEl>
                                      </p:cBhvr>
                                    </p:animEffect>
                                    <p:anim calcmode="lin" valueType="num">
                                      <p:cBhvr>
                                        <p:cTn id="47" dur="1000" fill="hold"/>
                                        <p:tgtEl>
                                          <p:spTgt spid="31"/>
                                        </p:tgtEl>
                                        <p:attrNameLst>
                                          <p:attrName>ppt_x</p:attrName>
                                        </p:attrNameLst>
                                      </p:cBhvr>
                                      <p:tavLst>
                                        <p:tav tm="0">
                                          <p:val>
                                            <p:strVal val="#ppt_x"/>
                                          </p:val>
                                        </p:tav>
                                        <p:tav tm="100000">
                                          <p:val>
                                            <p:strVal val="#ppt_x"/>
                                          </p:val>
                                        </p:tav>
                                      </p:tavLst>
                                    </p:anim>
                                    <p:anim calcmode="lin" valueType="num">
                                      <p:cBhvr>
                                        <p:cTn id="48" dur="1000" fill="hold"/>
                                        <p:tgtEl>
                                          <p:spTgt spid="31"/>
                                        </p:tgtEl>
                                        <p:attrNameLst>
                                          <p:attrName>ppt_y</p:attrName>
                                        </p:attrNameLst>
                                      </p:cBhvr>
                                      <p:tavLst>
                                        <p:tav tm="0">
                                          <p:val>
                                            <p:strVal val="#ppt_y-.1"/>
                                          </p:val>
                                        </p:tav>
                                        <p:tav tm="100000">
                                          <p:val>
                                            <p:strVal val="#ppt_y"/>
                                          </p:val>
                                        </p:tav>
                                      </p:tavLst>
                                    </p:anim>
                                  </p:childTnLst>
                                </p:cTn>
                              </p:par>
                            </p:childTnLst>
                          </p:cTn>
                        </p:par>
                        <p:par>
                          <p:cTn id="49" fill="hold">
                            <p:stCondLst>
                              <p:cond delay="1000"/>
                            </p:stCondLst>
                            <p:childTnLst>
                              <p:par>
                                <p:cTn id="50" presetID="10" presetClass="entr" presetSubtype="0" fill="hold" grpId="0" nodeType="after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fade">
                                      <p:cBhvr>
                                        <p:cTn id="52" dur="500"/>
                                        <p:tgtEl>
                                          <p:spTgt spid="34"/>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35"/>
                                        </p:tgtEl>
                                        <p:attrNameLst>
                                          <p:attrName>style.visibility</p:attrName>
                                        </p:attrNameLst>
                                      </p:cBhvr>
                                      <p:to>
                                        <p:strVal val="visible"/>
                                      </p:to>
                                    </p:set>
                                    <p:anim calcmode="lin" valueType="num">
                                      <p:cBhvr additive="base">
                                        <p:cTn id="57" dur="500" fill="hold"/>
                                        <p:tgtEl>
                                          <p:spTgt spid="35"/>
                                        </p:tgtEl>
                                        <p:attrNameLst>
                                          <p:attrName>ppt_x</p:attrName>
                                        </p:attrNameLst>
                                      </p:cBhvr>
                                      <p:tavLst>
                                        <p:tav tm="0">
                                          <p:val>
                                            <p:strVal val="#ppt_x"/>
                                          </p:val>
                                        </p:tav>
                                        <p:tav tm="100000">
                                          <p:val>
                                            <p:strVal val="#ppt_x"/>
                                          </p:val>
                                        </p:tav>
                                      </p:tavLst>
                                    </p:anim>
                                    <p:anim calcmode="lin" valueType="num">
                                      <p:cBhvr additive="base">
                                        <p:cTn id="58"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966865" y="-2951873"/>
            <a:ext cx="7961146" cy="7961146"/>
            <a:chOff x="0" y="0"/>
            <a:chExt cx="10614861" cy="10614861"/>
          </a:xfrm>
        </p:grpSpPr>
        <p:sp>
          <p:nvSpPr>
            <p:cNvPr id="3" name="Freeform 3"/>
            <p:cNvSpPr/>
            <p:nvPr/>
          </p:nvSpPr>
          <p:spPr>
            <a:xfrm rot="-1200957">
              <a:off x="1167079" y="1167079"/>
              <a:ext cx="8280703" cy="8280703"/>
            </a:xfrm>
            <a:custGeom>
              <a:avLst/>
              <a:gdLst/>
              <a:ahLst/>
              <a:cxnLst/>
              <a:rect l="l" t="t" r="r" b="b"/>
              <a:pathLst>
                <a:path w="8280703" h="8280703">
                  <a:moveTo>
                    <a:pt x="0" y="0"/>
                  </a:moveTo>
                  <a:lnTo>
                    <a:pt x="8280703" y="0"/>
                  </a:lnTo>
                  <a:lnTo>
                    <a:pt x="8280703" y="8280703"/>
                  </a:lnTo>
                  <a:lnTo>
                    <a:pt x="0" y="8280703"/>
                  </a:lnTo>
                  <a:lnTo>
                    <a:pt x="0" y="0"/>
                  </a:lnTo>
                  <a:close/>
                </a:path>
              </a:pathLst>
            </a:custGeom>
            <a:blipFill>
              <a:blip r:embed="rId2">
                <a:alphaModFix amt="31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059011" y="1059011"/>
              <a:ext cx="8280703" cy="8280703"/>
            </a:xfrm>
            <a:custGeom>
              <a:avLst/>
              <a:gdLst/>
              <a:ahLst/>
              <a:cxnLst/>
              <a:rect l="l" t="t" r="r" b="b"/>
              <a:pathLst>
                <a:path w="8280703" h="8280703">
                  <a:moveTo>
                    <a:pt x="0" y="0"/>
                  </a:moveTo>
                  <a:lnTo>
                    <a:pt x="8280703" y="0"/>
                  </a:lnTo>
                  <a:lnTo>
                    <a:pt x="8280703" y="8280703"/>
                  </a:lnTo>
                  <a:lnTo>
                    <a:pt x="0" y="828070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664105" y="1353005"/>
            <a:ext cx="16595195" cy="7169785"/>
            <a:chOff x="0" y="0"/>
            <a:chExt cx="22126927" cy="9559713"/>
          </a:xfrm>
        </p:grpSpPr>
        <p:sp>
          <p:nvSpPr>
            <p:cNvPr id="6" name="TextBox 6"/>
            <p:cNvSpPr txBox="1"/>
            <p:nvPr/>
          </p:nvSpPr>
          <p:spPr>
            <a:xfrm>
              <a:off x="0" y="-76200"/>
              <a:ext cx="22126927" cy="1494367"/>
            </a:xfrm>
            <a:prstGeom prst="rect">
              <a:avLst/>
            </a:prstGeom>
          </p:spPr>
          <p:txBody>
            <a:bodyPr lIns="0" tIns="0" rIns="0" bIns="0" rtlCol="0" anchor="t">
              <a:spAutoFit/>
            </a:bodyPr>
            <a:lstStyle/>
            <a:p>
              <a:pPr algn="l">
                <a:lnSpc>
                  <a:spcPts val="9099"/>
                </a:lnSpc>
              </a:pPr>
              <a:r>
                <a:rPr lang="en-US" sz="6999" b="1" dirty="0">
                  <a:solidFill>
                    <a:srgbClr val="153969"/>
                  </a:solidFill>
                  <a:latin typeface="Klein Bold"/>
                  <a:ea typeface="Klein Bold"/>
                  <a:cs typeface="Klein Bold"/>
                  <a:sym typeface="Klein Bold"/>
                </a:rPr>
                <a:t>Introduction</a:t>
              </a:r>
            </a:p>
          </p:txBody>
        </p:sp>
        <p:sp>
          <p:nvSpPr>
            <p:cNvPr id="7" name="TextBox 7"/>
            <p:cNvSpPr txBox="1"/>
            <p:nvPr/>
          </p:nvSpPr>
          <p:spPr>
            <a:xfrm>
              <a:off x="0" y="2108411"/>
              <a:ext cx="19976644" cy="7451302"/>
            </a:xfrm>
            <a:prstGeom prst="rect">
              <a:avLst/>
            </a:prstGeom>
          </p:spPr>
          <p:txBody>
            <a:bodyPr lIns="0" tIns="0" rIns="0" bIns="0" rtlCol="0" anchor="t">
              <a:spAutoFit/>
            </a:bodyPr>
            <a:lstStyle/>
            <a:p>
              <a:pPr marL="690879" lvl="1" indent="-345439" algn="l">
                <a:lnSpc>
                  <a:spcPts val="4479"/>
                </a:lnSpc>
                <a:buFont typeface="Arial"/>
                <a:buChar char="•"/>
              </a:pPr>
              <a:r>
                <a:rPr lang="en-US" sz="3199">
                  <a:solidFill>
                    <a:srgbClr val="153969"/>
                  </a:solidFill>
                  <a:latin typeface="Helios"/>
                  <a:ea typeface="Helios"/>
                  <a:cs typeface="Helios"/>
                  <a:sym typeface="Helios"/>
                </a:rPr>
                <a:t>Modern networks handle vast volumes of data across multiple paths, devices, and services. Network latency, or the delay experienced in packet transmission, directly affects the quality of user experience, particularly in real time applications like video calls, VoIP, and gaming. </a:t>
              </a:r>
            </a:p>
            <a:p>
              <a:pPr marL="690879" lvl="1" indent="-345439" algn="l">
                <a:lnSpc>
                  <a:spcPts val="4479"/>
                </a:lnSpc>
                <a:buFont typeface="Arial"/>
                <a:buChar char="•"/>
              </a:pPr>
              <a:r>
                <a:rPr lang="en-US" sz="3199">
                  <a:solidFill>
                    <a:srgbClr val="153969"/>
                  </a:solidFill>
                  <a:latin typeface="Helios"/>
                  <a:ea typeface="Helios"/>
                  <a:cs typeface="Helios"/>
                  <a:sym typeface="Helios"/>
                </a:rPr>
                <a:t>While tools like Wireshark provide access to raw packet data, they lack intuitive delay visualization mechanisms.</a:t>
              </a:r>
            </a:p>
            <a:p>
              <a:pPr marL="690879" lvl="1" indent="-345439" algn="l">
                <a:lnSpc>
                  <a:spcPts val="4479"/>
                </a:lnSpc>
                <a:buFont typeface="Arial"/>
                <a:buChar char="•"/>
              </a:pPr>
              <a:r>
                <a:rPr lang="en-US" sz="3199">
                  <a:solidFill>
                    <a:srgbClr val="153969"/>
                  </a:solidFill>
                  <a:latin typeface="Helios"/>
                  <a:ea typeface="Helios"/>
                  <a:cs typeface="Helios"/>
                  <a:sym typeface="Helios"/>
                </a:rPr>
                <a:t> This project introduces a system that captures network traffic using Wireshark, extracts timestamp-based delay information, and visualizes packet delay over time using Python. It aims to assist engineers in identifying sources of delay spikes and improving network configuration.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8600262" y="0"/>
            <a:ext cx="1621594" cy="1621594"/>
          </a:xfrm>
          <a:custGeom>
            <a:avLst/>
            <a:gdLst/>
            <a:ahLst/>
            <a:cxnLst/>
            <a:rect l="l" t="t" r="r" b="b"/>
            <a:pathLst>
              <a:path w="1621594" h="1621594">
                <a:moveTo>
                  <a:pt x="0" y="0"/>
                </a:moveTo>
                <a:lnTo>
                  <a:pt x="1621594" y="0"/>
                </a:lnTo>
                <a:lnTo>
                  <a:pt x="1621594" y="1621594"/>
                </a:lnTo>
                <a:lnTo>
                  <a:pt x="0" y="16215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600262" y="4942237"/>
            <a:ext cx="1621594" cy="1621594"/>
          </a:xfrm>
          <a:custGeom>
            <a:avLst/>
            <a:gdLst/>
            <a:ahLst/>
            <a:cxnLst/>
            <a:rect l="l" t="t" r="r" b="b"/>
            <a:pathLst>
              <a:path w="1621594" h="1621594">
                <a:moveTo>
                  <a:pt x="0" y="0"/>
                </a:moveTo>
                <a:lnTo>
                  <a:pt x="1621594" y="0"/>
                </a:lnTo>
                <a:lnTo>
                  <a:pt x="1621594" y="1621594"/>
                </a:lnTo>
                <a:lnTo>
                  <a:pt x="0" y="16215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0434124" y="5695206"/>
            <a:ext cx="5585113" cy="4163167"/>
            <a:chOff x="0" y="0"/>
            <a:chExt cx="7446817" cy="5550890"/>
          </a:xfrm>
        </p:grpSpPr>
        <p:sp>
          <p:nvSpPr>
            <p:cNvPr id="5" name="TextBox 5"/>
            <p:cNvSpPr txBox="1"/>
            <p:nvPr/>
          </p:nvSpPr>
          <p:spPr>
            <a:xfrm>
              <a:off x="0" y="0"/>
              <a:ext cx="7446817" cy="762000"/>
            </a:xfrm>
            <a:prstGeom prst="rect">
              <a:avLst/>
            </a:prstGeom>
          </p:spPr>
          <p:txBody>
            <a:bodyPr lIns="0" tIns="0" rIns="0" bIns="0" rtlCol="0" anchor="t">
              <a:spAutoFit/>
            </a:bodyPr>
            <a:lstStyle/>
            <a:p>
              <a:pPr marL="0" lvl="0" indent="0" algn="l">
                <a:lnSpc>
                  <a:spcPts val="4559"/>
                </a:lnSpc>
                <a:spcBef>
                  <a:spcPct val="0"/>
                </a:spcBef>
              </a:pPr>
              <a:r>
                <a:rPr lang="en-US" sz="3799" b="1">
                  <a:solidFill>
                    <a:srgbClr val="718BAB"/>
                  </a:solidFill>
                  <a:latin typeface="Klein Bold"/>
                  <a:ea typeface="Klein Bold"/>
                  <a:cs typeface="Klein Bold"/>
                  <a:sym typeface="Klein Bold"/>
                </a:rPr>
                <a:t>The Gap</a:t>
              </a:r>
            </a:p>
          </p:txBody>
        </p:sp>
        <p:sp>
          <p:nvSpPr>
            <p:cNvPr id="6" name="TextBox 6"/>
            <p:cNvSpPr txBox="1"/>
            <p:nvPr/>
          </p:nvSpPr>
          <p:spPr>
            <a:xfrm>
              <a:off x="0" y="1314593"/>
              <a:ext cx="7446817" cy="4236297"/>
            </a:xfrm>
            <a:prstGeom prst="rect">
              <a:avLst/>
            </a:prstGeom>
          </p:spPr>
          <p:txBody>
            <a:bodyPr lIns="0" tIns="0" rIns="0" bIns="0" rtlCol="0" anchor="t">
              <a:spAutoFit/>
            </a:bodyPr>
            <a:lstStyle/>
            <a:p>
              <a:pPr marL="561339" lvl="1" indent="-280669" algn="l">
                <a:lnSpc>
                  <a:spcPts val="3639"/>
                </a:lnSpc>
                <a:spcBef>
                  <a:spcPct val="0"/>
                </a:spcBef>
                <a:buFont typeface="Arial"/>
                <a:buChar char="•"/>
              </a:pPr>
              <a:r>
                <a:rPr lang="en-US" sz="2599" dirty="0">
                  <a:solidFill>
                    <a:srgbClr val="153969"/>
                  </a:solidFill>
                  <a:latin typeface="Helios"/>
                  <a:ea typeface="Helios"/>
                  <a:cs typeface="Helios"/>
                  <a:sym typeface="Helios"/>
                </a:rPr>
                <a:t>No s</a:t>
              </a:r>
              <a:r>
                <a:rPr lang="en-US" sz="2599" u="none" dirty="0">
                  <a:solidFill>
                    <a:srgbClr val="153969"/>
                  </a:solidFill>
                  <a:latin typeface="Helios"/>
                  <a:ea typeface="Helios"/>
                  <a:cs typeface="Helios"/>
                  <a:sym typeface="Helios"/>
                </a:rPr>
                <a:t>imple method to visualize network delays and round-trip times (RTT) effectively.</a:t>
              </a:r>
            </a:p>
            <a:p>
              <a:pPr marL="561339" lvl="1" indent="-280669" algn="l">
                <a:lnSpc>
                  <a:spcPts val="3639"/>
                </a:lnSpc>
                <a:spcBef>
                  <a:spcPct val="0"/>
                </a:spcBef>
                <a:buFont typeface="Arial"/>
                <a:buChar char="•"/>
              </a:pPr>
              <a:r>
                <a:rPr lang="en-US" sz="2599" u="none" dirty="0">
                  <a:solidFill>
                    <a:srgbClr val="153969"/>
                  </a:solidFill>
                  <a:latin typeface="Helios"/>
                  <a:ea typeface="Helios"/>
                  <a:cs typeface="Helios"/>
                  <a:sym typeface="Helios"/>
                </a:rPr>
                <a:t>Engineers struggle to identify delay spikes and bottlenecks quickly.</a:t>
              </a:r>
            </a:p>
            <a:p>
              <a:pPr marL="0" lvl="0" indent="0" algn="l">
                <a:lnSpc>
                  <a:spcPts val="3639"/>
                </a:lnSpc>
                <a:spcBef>
                  <a:spcPct val="0"/>
                </a:spcBef>
              </a:pPr>
              <a:endParaRPr lang="en-US" sz="2599" u="none" dirty="0">
                <a:solidFill>
                  <a:srgbClr val="153969"/>
                </a:solidFill>
                <a:latin typeface="Helios"/>
                <a:ea typeface="Helios"/>
                <a:cs typeface="Helios"/>
                <a:sym typeface="Helios"/>
              </a:endParaRPr>
            </a:p>
          </p:txBody>
        </p:sp>
      </p:grpSp>
      <p:grpSp>
        <p:nvGrpSpPr>
          <p:cNvPr id="7" name="Group 7"/>
          <p:cNvGrpSpPr/>
          <p:nvPr/>
        </p:nvGrpSpPr>
        <p:grpSpPr>
          <a:xfrm>
            <a:off x="0" y="0"/>
            <a:ext cx="9411059" cy="10287000"/>
            <a:chOff x="0" y="0"/>
            <a:chExt cx="2478633" cy="2709333"/>
          </a:xfrm>
        </p:grpSpPr>
        <p:sp>
          <p:nvSpPr>
            <p:cNvPr id="8" name="Freeform 8"/>
            <p:cNvSpPr/>
            <p:nvPr/>
          </p:nvSpPr>
          <p:spPr>
            <a:xfrm>
              <a:off x="0" y="0"/>
              <a:ext cx="2478633" cy="2709333"/>
            </a:xfrm>
            <a:custGeom>
              <a:avLst/>
              <a:gdLst/>
              <a:ahLst/>
              <a:cxnLst/>
              <a:rect l="l" t="t" r="r" b="b"/>
              <a:pathLst>
                <a:path w="2478633" h="2709333">
                  <a:moveTo>
                    <a:pt x="0" y="0"/>
                  </a:moveTo>
                  <a:lnTo>
                    <a:pt x="2478633" y="0"/>
                  </a:lnTo>
                  <a:lnTo>
                    <a:pt x="2478633" y="2709333"/>
                  </a:lnTo>
                  <a:lnTo>
                    <a:pt x="0" y="2709333"/>
                  </a:lnTo>
                  <a:close/>
                </a:path>
              </a:pathLst>
            </a:custGeom>
            <a:solidFill>
              <a:srgbClr val="FFFFFF"/>
            </a:solidFill>
          </p:spPr>
        </p:sp>
        <p:sp>
          <p:nvSpPr>
            <p:cNvPr id="9" name="TextBox 9"/>
            <p:cNvSpPr txBox="1"/>
            <p:nvPr/>
          </p:nvSpPr>
          <p:spPr>
            <a:xfrm>
              <a:off x="0" y="-38100"/>
              <a:ext cx="2478633" cy="2747433"/>
            </a:xfrm>
            <a:prstGeom prst="rect">
              <a:avLst/>
            </a:prstGeom>
          </p:spPr>
          <p:txBody>
            <a:bodyPr lIns="50800" tIns="50800" rIns="50800" bIns="50800" rtlCol="0" anchor="ctr"/>
            <a:lstStyle/>
            <a:p>
              <a:pPr algn="ctr">
                <a:lnSpc>
                  <a:spcPts val="2100"/>
                </a:lnSpc>
              </a:pPr>
              <a:endParaRPr/>
            </a:p>
          </p:txBody>
        </p:sp>
      </p:grpSp>
      <p:grpSp>
        <p:nvGrpSpPr>
          <p:cNvPr id="10" name="Group 10"/>
          <p:cNvGrpSpPr/>
          <p:nvPr/>
        </p:nvGrpSpPr>
        <p:grpSpPr>
          <a:xfrm>
            <a:off x="270601" y="335651"/>
            <a:ext cx="6746873" cy="7755255"/>
            <a:chOff x="0" y="0"/>
            <a:chExt cx="8995831" cy="10340340"/>
          </a:xfrm>
        </p:grpSpPr>
        <p:sp>
          <p:nvSpPr>
            <p:cNvPr id="11" name="TextBox 11"/>
            <p:cNvSpPr txBox="1"/>
            <p:nvPr/>
          </p:nvSpPr>
          <p:spPr>
            <a:xfrm>
              <a:off x="0" y="-76200"/>
              <a:ext cx="8995831" cy="3031067"/>
            </a:xfrm>
            <a:prstGeom prst="rect">
              <a:avLst/>
            </a:prstGeom>
          </p:spPr>
          <p:txBody>
            <a:bodyPr lIns="0" tIns="0" rIns="0" bIns="0" rtlCol="0" anchor="t">
              <a:spAutoFit/>
            </a:bodyPr>
            <a:lstStyle/>
            <a:p>
              <a:pPr algn="l">
                <a:lnSpc>
                  <a:spcPts val="9099"/>
                </a:lnSpc>
              </a:pPr>
              <a:r>
                <a:rPr lang="en-US" sz="6999" b="1" dirty="0">
                  <a:solidFill>
                    <a:srgbClr val="153969"/>
                  </a:solidFill>
                  <a:latin typeface="Klein Bold"/>
                  <a:ea typeface="Klein Bold"/>
                  <a:cs typeface="Klein Bold"/>
                  <a:sym typeface="Klein Bold"/>
                </a:rPr>
                <a:t>Problem Statement</a:t>
              </a:r>
            </a:p>
          </p:txBody>
        </p:sp>
        <p:sp>
          <p:nvSpPr>
            <p:cNvPr id="12" name="TextBox 12"/>
            <p:cNvSpPr txBox="1"/>
            <p:nvPr/>
          </p:nvSpPr>
          <p:spPr>
            <a:xfrm>
              <a:off x="0" y="3638338"/>
              <a:ext cx="7058405" cy="6702002"/>
            </a:xfrm>
            <a:prstGeom prst="rect">
              <a:avLst/>
            </a:prstGeom>
          </p:spPr>
          <p:txBody>
            <a:bodyPr lIns="0" tIns="0" rIns="0" bIns="0" rtlCol="0" anchor="t">
              <a:spAutoFit/>
            </a:bodyPr>
            <a:lstStyle/>
            <a:p>
              <a:pPr algn="l">
                <a:lnSpc>
                  <a:spcPts val="4479"/>
                </a:lnSpc>
              </a:pPr>
              <a:r>
                <a:rPr lang="en-US" sz="3199" dirty="0">
                  <a:solidFill>
                    <a:srgbClr val="153969"/>
                  </a:solidFill>
                  <a:latin typeface="Helios"/>
                  <a:ea typeface="Helios"/>
                  <a:cs typeface="Helios"/>
                  <a:sym typeface="Helios"/>
                </a:rPr>
                <a:t>Cur</a:t>
              </a:r>
              <a:r>
                <a:rPr lang="en-US" sz="3199" u="none" dirty="0">
                  <a:solidFill>
                    <a:srgbClr val="153969"/>
                  </a:solidFill>
                  <a:latin typeface="Helios"/>
                  <a:ea typeface="Helios"/>
                  <a:cs typeface="Helios"/>
                  <a:sym typeface="Helios"/>
                </a:rPr>
                <a:t>rent Issue</a:t>
              </a:r>
            </a:p>
            <a:p>
              <a:pPr marL="690879" lvl="1" indent="-345439" algn="l">
                <a:lnSpc>
                  <a:spcPts val="4479"/>
                </a:lnSpc>
                <a:buFont typeface="Arial"/>
                <a:buChar char="•"/>
              </a:pPr>
              <a:r>
                <a:rPr lang="en-US" sz="3199" u="none" dirty="0">
                  <a:solidFill>
                    <a:srgbClr val="153969"/>
                  </a:solidFill>
                  <a:latin typeface="Helios"/>
                  <a:ea typeface="Helios"/>
                  <a:cs typeface="Helios"/>
                  <a:sym typeface="Helios"/>
                </a:rPr>
                <a:t>Packet delay analysis often requires manual inspection of Wireshark logs.</a:t>
              </a:r>
            </a:p>
            <a:p>
              <a:pPr marL="690879" lvl="1" indent="-345439" algn="l">
                <a:lnSpc>
                  <a:spcPts val="4479"/>
                </a:lnSpc>
                <a:buFont typeface="Arial"/>
                <a:buChar char="•"/>
              </a:pPr>
              <a:r>
                <a:rPr lang="en-US" sz="3199" u="none" dirty="0">
                  <a:solidFill>
                    <a:srgbClr val="153969"/>
                  </a:solidFill>
                  <a:latin typeface="Helios"/>
                  <a:ea typeface="Helios"/>
                  <a:cs typeface="Helios"/>
                  <a:sym typeface="Helios"/>
                </a:rPr>
                <a:t>Process is time-consuming, error-prone, and lacks clarity.</a:t>
              </a:r>
            </a:p>
            <a:p>
              <a:pPr algn="l">
                <a:lnSpc>
                  <a:spcPts val="4479"/>
                </a:lnSpc>
              </a:pPr>
              <a:endParaRPr lang="en-US" sz="3199" u="none" dirty="0">
                <a:solidFill>
                  <a:srgbClr val="153969"/>
                </a:solidFill>
                <a:latin typeface="Helios"/>
                <a:ea typeface="Helios"/>
                <a:cs typeface="Helios"/>
                <a:sym typeface="Helios"/>
              </a:endParaRPr>
            </a:p>
          </p:txBody>
        </p:sp>
      </p:grpSp>
      <p:grpSp>
        <p:nvGrpSpPr>
          <p:cNvPr id="13" name="Group 13"/>
          <p:cNvGrpSpPr/>
          <p:nvPr/>
        </p:nvGrpSpPr>
        <p:grpSpPr>
          <a:xfrm>
            <a:off x="10221856" y="335651"/>
            <a:ext cx="5585113" cy="4277467"/>
            <a:chOff x="0" y="0"/>
            <a:chExt cx="7446817" cy="5703290"/>
          </a:xfrm>
        </p:grpSpPr>
        <p:sp>
          <p:nvSpPr>
            <p:cNvPr id="14" name="TextBox 14"/>
            <p:cNvSpPr txBox="1"/>
            <p:nvPr/>
          </p:nvSpPr>
          <p:spPr>
            <a:xfrm>
              <a:off x="0" y="0"/>
              <a:ext cx="7446817" cy="1524000"/>
            </a:xfrm>
            <a:prstGeom prst="rect">
              <a:avLst/>
            </a:prstGeom>
          </p:spPr>
          <p:txBody>
            <a:bodyPr lIns="0" tIns="0" rIns="0" bIns="0" rtlCol="0" anchor="t">
              <a:spAutoFit/>
            </a:bodyPr>
            <a:lstStyle/>
            <a:p>
              <a:pPr marL="0" lvl="0" indent="0" algn="l">
                <a:lnSpc>
                  <a:spcPts val="4559"/>
                </a:lnSpc>
                <a:spcBef>
                  <a:spcPct val="0"/>
                </a:spcBef>
              </a:pPr>
              <a:r>
                <a:rPr lang="en-US" sz="3799" b="1">
                  <a:solidFill>
                    <a:srgbClr val="718BAB"/>
                  </a:solidFill>
                  <a:latin typeface="Klein Bold"/>
                  <a:ea typeface="Klein Bold"/>
                  <a:cs typeface="Klein Bold"/>
                  <a:sym typeface="Klein Bold"/>
                </a:rPr>
                <a:t>Limitat</a:t>
              </a:r>
              <a:r>
                <a:rPr lang="en-US" sz="3799" b="1" u="none">
                  <a:solidFill>
                    <a:srgbClr val="718BAB"/>
                  </a:solidFill>
                  <a:latin typeface="Klein Bold"/>
                  <a:ea typeface="Klein Bold"/>
                  <a:cs typeface="Klein Bold"/>
                  <a:sym typeface="Klein Bold"/>
                </a:rPr>
                <a:t>ions of Existing Tools</a:t>
              </a:r>
            </a:p>
          </p:txBody>
        </p:sp>
        <p:sp>
          <p:nvSpPr>
            <p:cNvPr id="15" name="TextBox 15"/>
            <p:cNvSpPr txBox="1"/>
            <p:nvPr/>
          </p:nvSpPr>
          <p:spPr>
            <a:xfrm>
              <a:off x="0" y="2076593"/>
              <a:ext cx="7446817" cy="3626697"/>
            </a:xfrm>
            <a:prstGeom prst="rect">
              <a:avLst/>
            </a:prstGeom>
          </p:spPr>
          <p:txBody>
            <a:bodyPr lIns="0" tIns="0" rIns="0" bIns="0" rtlCol="0" anchor="t">
              <a:spAutoFit/>
            </a:bodyPr>
            <a:lstStyle/>
            <a:p>
              <a:pPr marL="561339" lvl="1" indent="-280669" algn="l">
                <a:lnSpc>
                  <a:spcPts val="3639"/>
                </a:lnSpc>
                <a:spcBef>
                  <a:spcPct val="0"/>
                </a:spcBef>
                <a:buFont typeface="Arial"/>
                <a:buChar char="•"/>
              </a:pPr>
              <a:r>
                <a:rPr lang="en-US" sz="2599">
                  <a:solidFill>
                    <a:srgbClr val="153969"/>
                  </a:solidFill>
                  <a:latin typeface="Helios"/>
                  <a:ea typeface="Helios"/>
                  <a:cs typeface="Helios"/>
                  <a:sym typeface="Helios"/>
                </a:rPr>
                <a:t>Focus ma</a:t>
              </a:r>
              <a:r>
                <a:rPr lang="en-US" sz="2599" u="none">
                  <a:solidFill>
                    <a:srgbClr val="153969"/>
                  </a:solidFill>
                  <a:latin typeface="Helios"/>
                  <a:ea typeface="Helios"/>
                  <a:cs typeface="Helios"/>
                  <a:sym typeface="Helios"/>
                </a:rPr>
                <a:t>inly on protocol-level data (headers, packet counts, etc.).</a:t>
              </a:r>
            </a:p>
            <a:p>
              <a:pPr marL="561339" lvl="1" indent="-280669" algn="l">
                <a:lnSpc>
                  <a:spcPts val="3639"/>
                </a:lnSpc>
                <a:spcBef>
                  <a:spcPct val="0"/>
                </a:spcBef>
                <a:buFont typeface="Arial"/>
                <a:buChar char="•"/>
              </a:pPr>
              <a:r>
                <a:rPr lang="en-US" sz="2599" u="none">
                  <a:solidFill>
                    <a:srgbClr val="153969"/>
                  </a:solidFill>
                  <a:latin typeface="Helios"/>
                  <a:ea typeface="Helios"/>
                  <a:cs typeface="Helios"/>
                  <a:sym typeface="Helios"/>
                </a:rPr>
                <a:t>Do not provide high-level delay analytics or easy-to-read trends.</a:t>
              </a:r>
            </a:p>
            <a:p>
              <a:pPr marL="0" lvl="0" indent="0" algn="l">
                <a:lnSpc>
                  <a:spcPts val="3639"/>
                </a:lnSpc>
                <a:spcBef>
                  <a:spcPct val="0"/>
                </a:spcBef>
              </a:pPr>
              <a:endParaRPr lang="en-US" sz="2599" u="none">
                <a:solidFill>
                  <a:srgbClr val="153969"/>
                </a:solidFill>
                <a:latin typeface="Helios"/>
                <a:ea typeface="Helios"/>
                <a:cs typeface="Helios"/>
                <a:sym typeface="Helio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1000"/>
                                        <p:tgtEl>
                                          <p:spTgt spid="13"/>
                                        </p:tgtEl>
                                      </p:cBhvr>
                                    </p:animEffec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296844" y="-1836715"/>
            <a:ext cx="13960430" cy="13960430"/>
          </a:xfrm>
          <a:custGeom>
            <a:avLst/>
            <a:gdLst/>
            <a:ahLst/>
            <a:cxnLst/>
            <a:rect l="l" t="t" r="r" b="b"/>
            <a:pathLst>
              <a:path w="13960430" h="13960430">
                <a:moveTo>
                  <a:pt x="0" y="0"/>
                </a:moveTo>
                <a:lnTo>
                  <a:pt x="13960431" y="0"/>
                </a:lnTo>
                <a:lnTo>
                  <a:pt x="13960431" y="13960430"/>
                </a:lnTo>
                <a:lnTo>
                  <a:pt x="0" y="139604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452545" y="275704"/>
            <a:ext cx="7844625" cy="4868220"/>
            <a:chOff x="0" y="0"/>
            <a:chExt cx="10459500" cy="6490960"/>
          </a:xfrm>
        </p:grpSpPr>
        <p:sp>
          <p:nvSpPr>
            <p:cNvPr id="4" name="TextBox 4"/>
            <p:cNvSpPr txBox="1"/>
            <p:nvPr/>
          </p:nvSpPr>
          <p:spPr>
            <a:xfrm>
              <a:off x="0" y="-85725"/>
              <a:ext cx="10459500" cy="3600087"/>
            </a:xfrm>
            <a:prstGeom prst="rect">
              <a:avLst/>
            </a:prstGeom>
          </p:spPr>
          <p:txBody>
            <a:bodyPr lIns="0" tIns="0" rIns="0" bIns="0" rtlCol="0" anchor="t">
              <a:spAutoFit/>
            </a:bodyPr>
            <a:lstStyle/>
            <a:p>
              <a:pPr algn="l">
                <a:lnSpc>
                  <a:spcPts val="10823"/>
                </a:lnSpc>
              </a:pPr>
              <a:r>
                <a:rPr lang="en-US" sz="8325" b="1">
                  <a:solidFill>
                    <a:srgbClr val="153969"/>
                  </a:solidFill>
                  <a:latin typeface="Klein Bold"/>
                  <a:ea typeface="Klein Bold"/>
                  <a:cs typeface="Klein Bold"/>
                  <a:sym typeface="Klein Bold"/>
                </a:rPr>
                <a:t>Our Aim and Goals</a:t>
              </a:r>
            </a:p>
          </p:txBody>
        </p:sp>
        <p:sp>
          <p:nvSpPr>
            <p:cNvPr id="5" name="TextBox 5"/>
            <p:cNvSpPr txBox="1"/>
            <p:nvPr/>
          </p:nvSpPr>
          <p:spPr>
            <a:xfrm>
              <a:off x="0" y="3860595"/>
              <a:ext cx="9957585" cy="2630365"/>
            </a:xfrm>
            <a:prstGeom prst="rect">
              <a:avLst/>
            </a:prstGeom>
          </p:spPr>
          <p:txBody>
            <a:bodyPr lIns="0" tIns="0" rIns="0" bIns="0" rtlCol="0" anchor="t">
              <a:spAutoFit/>
            </a:bodyPr>
            <a:lstStyle/>
            <a:p>
              <a:pPr algn="l">
                <a:lnSpc>
                  <a:spcPts val="5328"/>
                </a:lnSpc>
              </a:pPr>
              <a:r>
                <a:rPr lang="en-US" sz="3805">
                  <a:solidFill>
                    <a:srgbClr val="153969"/>
                  </a:solidFill>
                  <a:latin typeface="Helios"/>
                  <a:ea typeface="Helios"/>
                  <a:cs typeface="Helios"/>
                  <a:sym typeface="Helios"/>
                </a:rPr>
                <a:t>To ana</a:t>
              </a:r>
              <a:r>
                <a:rPr lang="en-US" sz="3805" u="none">
                  <a:solidFill>
                    <a:srgbClr val="153969"/>
                  </a:solidFill>
                  <a:latin typeface="Helios"/>
                  <a:ea typeface="Helios"/>
                  <a:cs typeface="Helios"/>
                  <a:sym typeface="Helios"/>
                </a:rPr>
                <a:t>lyze and visualize packet delays and round-trip times (RTT) from Wireshark logs.</a:t>
              </a:r>
            </a:p>
          </p:txBody>
        </p:sp>
      </p:grpSp>
      <p:grpSp>
        <p:nvGrpSpPr>
          <p:cNvPr id="6" name="Group 6"/>
          <p:cNvGrpSpPr/>
          <p:nvPr/>
        </p:nvGrpSpPr>
        <p:grpSpPr>
          <a:xfrm>
            <a:off x="10035187" y="1515588"/>
            <a:ext cx="6506236" cy="1821708"/>
            <a:chOff x="0" y="0"/>
            <a:chExt cx="8674981" cy="2428944"/>
          </a:xfrm>
        </p:grpSpPr>
        <p:sp>
          <p:nvSpPr>
            <p:cNvPr id="7" name="Freeform 7"/>
            <p:cNvSpPr/>
            <p:nvPr/>
          </p:nvSpPr>
          <p:spPr>
            <a:xfrm>
              <a:off x="0" y="0"/>
              <a:ext cx="2428944" cy="2428944"/>
            </a:xfrm>
            <a:custGeom>
              <a:avLst/>
              <a:gdLst/>
              <a:ahLst/>
              <a:cxnLst/>
              <a:rect l="l" t="t" r="r" b="b"/>
              <a:pathLst>
                <a:path w="2428944" h="2428944">
                  <a:moveTo>
                    <a:pt x="0" y="0"/>
                  </a:moveTo>
                  <a:lnTo>
                    <a:pt x="2428944" y="0"/>
                  </a:lnTo>
                  <a:lnTo>
                    <a:pt x="2428944" y="2428944"/>
                  </a:lnTo>
                  <a:lnTo>
                    <a:pt x="0" y="2428944"/>
                  </a:lnTo>
                  <a:lnTo>
                    <a:pt x="0" y="0"/>
                  </a:lnTo>
                  <a:close/>
                </a:path>
              </a:pathLst>
            </a:custGeom>
            <a:blipFill>
              <a:blip r:embed="rId4">
                <a:alphaModFix amt="44999"/>
                <a:extLst>
                  <a:ext uri="{96DAC541-7B7A-43D3-8B79-37D633B846F1}">
                    <asvg:svgBlip xmlns:asvg="http://schemas.microsoft.com/office/drawing/2016/SVG/main" r:embed="rId5"/>
                  </a:ext>
                </a:extLst>
              </a:blip>
              <a:stretch>
                <a:fillRect/>
              </a:stretch>
            </a:blipFill>
          </p:spPr>
        </p:sp>
        <p:sp>
          <p:nvSpPr>
            <p:cNvPr id="8" name="Freeform 8"/>
            <p:cNvSpPr/>
            <p:nvPr/>
          </p:nvSpPr>
          <p:spPr>
            <a:xfrm>
              <a:off x="252229" y="252229"/>
              <a:ext cx="1924487" cy="1924487"/>
            </a:xfrm>
            <a:custGeom>
              <a:avLst/>
              <a:gdLst/>
              <a:ahLst/>
              <a:cxnLst/>
              <a:rect l="l" t="t" r="r" b="b"/>
              <a:pathLst>
                <a:path w="1924487" h="1924487">
                  <a:moveTo>
                    <a:pt x="0" y="0"/>
                  </a:moveTo>
                  <a:lnTo>
                    <a:pt x="1924487" y="0"/>
                  </a:lnTo>
                  <a:lnTo>
                    <a:pt x="1924487" y="1924487"/>
                  </a:lnTo>
                  <a:lnTo>
                    <a:pt x="0" y="192448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930756" y="836643"/>
              <a:ext cx="567431" cy="755659"/>
            </a:xfrm>
            <a:custGeom>
              <a:avLst/>
              <a:gdLst/>
              <a:ahLst/>
              <a:cxnLst/>
              <a:rect l="l" t="t" r="r" b="b"/>
              <a:pathLst>
                <a:path w="567431" h="755659">
                  <a:moveTo>
                    <a:pt x="0" y="0"/>
                  </a:moveTo>
                  <a:lnTo>
                    <a:pt x="567432" y="0"/>
                  </a:lnTo>
                  <a:lnTo>
                    <a:pt x="567432" y="755659"/>
                  </a:lnTo>
                  <a:lnTo>
                    <a:pt x="0" y="75565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TextBox 10"/>
            <p:cNvSpPr txBox="1"/>
            <p:nvPr/>
          </p:nvSpPr>
          <p:spPr>
            <a:xfrm>
              <a:off x="3492175" y="157770"/>
              <a:ext cx="5182806" cy="762000"/>
            </a:xfrm>
            <a:prstGeom prst="rect">
              <a:avLst/>
            </a:prstGeom>
          </p:spPr>
          <p:txBody>
            <a:bodyPr lIns="0" tIns="0" rIns="0" bIns="0" rtlCol="0" anchor="t">
              <a:spAutoFit/>
            </a:bodyPr>
            <a:lstStyle/>
            <a:p>
              <a:pPr marL="0" lvl="0" indent="0" algn="l">
                <a:lnSpc>
                  <a:spcPts val="4559"/>
                </a:lnSpc>
                <a:spcBef>
                  <a:spcPct val="0"/>
                </a:spcBef>
              </a:pPr>
              <a:r>
                <a:rPr lang="en-US" sz="3799" b="1" u="none">
                  <a:solidFill>
                    <a:srgbClr val="153969"/>
                  </a:solidFill>
                  <a:latin typeface="Klein Bold"/>
                  <a:ea typeface="Klein Bold"/>
                  <a:cs typeface="Klein Bold"/>
                  <a:sym typeface="Klein Bold"/>
                </a:rPr>
                <a:t>Goal # 1</a:t>
              </a:r>
            </a:p>
          </p:txBody>
        </p:sp>
        <p:sp>
          <p:nvSpPr>
            <p:cNvPr id="11" name="TextBox 11"/>
            <p:cNvSpPr txBox="1"/>
            <p:nvPr/>
          </p:nvSpPr>
          <p:spPr>
            <a:xfrm>
              <a:off x="3492175" y="1082877"/>
              <a:ext cx="5182806" cy="1188297"/>
            </a:xfrm>
            <a:prstGeom prst="rect">
              <a:avLst/>
            </a:prstGeom>
          </p:spPr>
          <p:txBody>
            <a:bodyPr lIns="0" tIns="0" rIns="0" bIns="0" rtlCol="0" anchor="t">
              <a:spAutoFit/>
            </a:bodyPr>
            <a:lstStyle/>
            <a:p>
              <a:pPr marL="0" lvl="0" indent="0" algn="l">
                <a:lnSpc>
                  <a:spcPts val="3639"/>
                </a:lnSpc>
                <a:spcBef>
                  <a:spcPct val="0"/>
                </a:spcBef>
              </a:pPr>
              <a:r>
                <a:rPr lang="en-US" sz="2599">
                  <a:solidFill>
                    <a:srgbClr val="153969"/>
                  </a:solidFill>
                  <a:latin typeface="Helios"/>
                  <a:ea typeface="Helios"/>
                  <a:cs typeface="Helios"/>
                  <a:sym typeface="Helios"/>
                </a:rPr>
                <a:t>C</a:t>
              </a:r>
              <a:r>
                <a:rPr lang="en-US" sz="2599" u="none">
                  <a:solidFill>
                    <a:srgbClr val="153969"/>
                  </a:solidFill>
                  <a:latin typeface="Helios"/>
                  <a:ea typeface="Helios"/>
                  <a:cs typeface="Helios"/>
                  <a:sym typeface="Helios"/>
                </a:rPr>
                <a:t>apture real-time network traffic using Wireshark.</a:t>
              </a:r>
            </a:p>
          </p:txBody>
        </p:sp>
      </p:grpSp>
      <p:sp>
        <p:nvSpPr>
          <p:cNvPr id="12" name="Freeform 12"/>
          <p:cNvSpPr/>
          <p:nvPr/>
        </p:nvSpPr>
        <p:spPr>
          <a:xfrm>
            <a:off x="10610812" y="4805196"/>
            <a:ext cx="670457" cy="676608"/>
          </a:xfrm>
          <a:custGeom>
            <a:avLst/>
            <a:gdLst/>
            <a:ahLst/>
            <a:cxnLst/>
            <a:rect l="l" t="t" r="r" b="b"/>
            <a:pathLst>
              <a:path w="670457" h="676608">
                <a:moveTo>
                  <a:pt x="0" y="0"/>
                </a:moveTo>
                <a:lnTo>
                  <a:pt x="670458" y="0"/>
                </a:lnTo>
                <a:lnTo>
                  <a:pt x="670458" y="676608"/>
                </a:lnTo>
                <a:lnTo>
                  <a:pt x="0" y="67660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13" name="Group 13"/>
          <p:cNvGrpSpPr/>
          <p:nvPr/>
        </p:nvGrpSpPr>
        <p:grpSpPr>
          <a:xfrm>
            <a:off x="10035187" y="3660096"/>
            <a:ext cx="6506236" cy="1931981"/>
            <a:chOff x="0" y="0"/>
            <a:chExt cx="8674981" cy="2575974"/>
          </a:xfrm>
        </p:grpSpPr>
        <p:sp>
          <p:nvSpPr>
            <p:cNvPr id="14" name="Freeform 14"/>
            <p:cNvSpPr/>
            <p:nvPr/>
          </p:nvSpPr>
          <p:spPr>
            <a:xfrm>
              <a:off x="0" y="0"/>
              <a:ext cx="2428944" cy="2428944"/>
            </a:xfrm>
            <a:custGeom>
              <a:avLst/>
              <a:gdLst/>
              <a:ahLst/>
              <a:cxnLst/>
              <a:rect l="l" t="t" r="r" b="b"/>
              <a:pathLst>
                <a:path w="2428944" h="2428944">
                  <a:moveTo>
                    <a:pt x="0" y="0"/>
                  </a:moveTo>
                  <a:lnTo>
                    <a:pt x="2428944" y="0"/>
                  </a:lnTo>
                  <a:lnTo>
                    <a:pt x="2428944" y="2428944"/>
                  </a:lnTo>
                  <a:lnTo>
                    <a:pt x="0" y="2428944"/>
                  </a:lnTo>
                  <a:lnTo>
                    <a:pt x="0" y="0"/>
                  </a:lnTo>
                  <a:close/>
                </a:path>
              </a:pathLst>
            </a:custGeom>
            <a:blipFill>
              <a:blip r:embed="rId4">
                <a:alphaModFix amt="44999"/>
                <a:extLst>
                  <a:ext uri="{96DAC541-7B7A-43D3-8B79-37D633B846F1}">
                    <asvg:svgBlip xmlns:asvg="http://schemas.microsoft.com/office/drawing/2016/SVG/main" r:embed="rId5"/>
                  </a:ext>
                </a:extLst>
              </a:blip>
              <a:stretch>
                <a:fillRect/>
              </a:stretch>
            </a:blipFill>
          </p:spPr>
        </p:sp>
        <p:sp>
          <p:nvSpPr>
            <p:cNvPr id="15" name="Freeform 15"/>
            <p:cNvSpPr/>
            <p:nvPr/>
          </p:nvSpPr>
          <p:spPr>
            <a:xfrm>
              <a:off x="252229" y="252229"/>
              <a:ext cx="1924487" cy="1924487"/>
            </a:xfrm>
            <a:custGeom>
              <a:avLst/>
              <a:gdLst/>
              <a:ahLst/>
              <a:cxnLst/>
              <a:rect l="l" t="t" r="r" b="b"/>
              <a:pathLst>
                <a:path w="1924487" h="1924487">
                  <a:moveTo>
                    <a:pt x="0" y="0"/>
                  </a:moveTo>
                  <a:lnTo>
                    <a:pt x="1924487" y="0"/>
                  </a:lnTo>
                  <a:lnTo>
                    <a:pt x="1924487" y="1924487"/>
                  </a:lnTo>
                  <a:lnTo>
                    <a:pt x="0" y="192448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6" name="Freeform 16"/>
            <p:cNvSpPr/>
            <p:nvPr/>
          </p:nvSpPr>
          <p:spPr>
            <a:xfrm>
              <a:off x="930756" y="836643"/>
              <a:ext cx="567431" cy="755659"/>
            </a:xfrm>
            <a:custGeom>
              <a:avLst/>
              <a:gdLst/>
              <a:ahLst/>
              <a:cxnLst/>
              <a:rect l="l" t="t" r="r" b="b"/>
              <a:pathLst>
                <a:path w="567431" h="755659">
                  <a:moveTo>
                    <a:pt x="0" y="0"/>
                  </a:moveTo>
                  <a:lnTo>
                    <a:pt x="567432" y="0"/>
                  </a:lnTo>
                  <a:lnTo>
                    <a:pt x="567432" y="755659"/>
                  </a:lnTo>
                  <a:lnTo>
                    <a:pt x="0" y="75565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7" name="TextBox 17"/>
            <p:cNvSpPr txBox="1"/>
            <p:nvPr/>
          </p:nvSpPr>
          <p:spPr>
            <a:xfrm>
              <a:off x="3492175" y="157770"/>
              <a:ext cx="5182806" cy="762000"/>
            </a:xfrm>
            <a:prstGeom prst="rect">
              <a:avLst/>
            </a:prstGeom>
          </p:spPr>
          <p:txBody>
            <a:bodyPr lIns="0" tIns="0" rIns="0" bIns="0" rtlCol="0" anchor="t">
              <a:spAutoFit/>
            </a:bodyPr>
            <a:lstStyle/>
            <a:p>
              <a:pPr marL="0" lvl="0" indent="0" algn="l">
                <a:lnSpc>
                  <a:spcPts val="4559"/>
                </a:lnSpc>
                <a:spcBef>
                  <a:spcPct val="0"/>
                </a:spcBef>
              </a:pPr>
              <a:r>
                <a:rPr lang="en-US" sz="3799" b="1" u="none">
                  <a:solidFill>
                    <a:srgbClr val="153969"/>
                  </a:solidFill>
                  <a:latin typeface="Klein Bold"/>
                  <a:ea typeface="Klein Bold"/>
                  <a:cs typeface="Klein Bold"/>
                  <a:sym typeface="Klein Bold"/>
                </a:rPr>
                <a:t>Goal # 2</a:t>
              </a:r>
            </a:p>
          </p:txBody>
        </p:sp>
        <p:sp>
          <p:nvSpPr>
            <p:cNvPr id="18" name="TextBox 18"/>
            <p:cNvSpPr txBox="1"/>
            <p:nvPr/>
          </p:nvSpPr>
          <p:spPr>
            <a:xfrm>
              <a:off x="3492175" y="778077"/>
              <a:ext cx="5182806" cy="1797897"/>
            </a:xfrm>
            <a:prstGeom prst="rect">
              <a:avLst/>
            </a:prstGeom>
          </p:spPr>
          <p:txBody>
            <a:bodyPr lIns="0" tIns="0" rIns="0" bIns="0" rtlCol="0" anchor="t">
              <a:spAutoFit/>
            </a:bodyPr>
            <a:lstStyle/>
            <a:p>
              <a:pPr marL="0" lvl="0" indent="0" algn="l">
                <a:lnSpc>
                  <a:spcPts val="3639"/>
                </a:lnSpc>
                <a:spcBef>
                  <a:spcPct val="0"/>
                </a:spcBef>
              </a:pPr>
              <a:r>
                <a:rPr lang="en-US" sz="2599">
                  <a:solidFill>
                    <a:srgbClr val="153969"/>
                  </a:solidFill>
                  <a:latin typeface="Helios"/>
                  <a:ea typeface="Helios"/>
                  <a:cs typeface="Helios"/>
                  <a:sym typeface="Helios"/>
                </a:rPr>
                <a:t>Ex</a:t>
              </a:r>
              <a:r>
                <a:rPr lang="en-US" sz="2599" u="none">
                  <a:solidFill>
                    <a:srgbClr val="153969"/>
                  </a:solidFill>
                  <a:latin typeface="Helios"/>
                  <a:ea typeface="Helios"/>
                  <a:cs typeface="Helios"/>
                  <a:sym typeface="Helios"/>
                </a:rPr>
                <a:t>tract and calculate delays for TCP, ICMP, and HTTP protocols.</a:t>
              </a:r>
            </a:p>
          </p:txBody>
        </p:sp>
      </p:grpSp>
      <p:grpSp>
        <p:nvGrpSpPr>
          <p:cNvPr id="19" name="Group 19"/>
          <p:cNvGrpSpPr/>
          <p:nvPr/>
        </p:nvGrpSpPr>
        <p:grpSpPr>
          <a:xfrm>
            <a:off x="10035187" y="5804604"/>
            <a:ext cx="6506236" cy="1931981"/>
            <a:chOff x="0" y="0"/>
            <a:chExt cx="8674981" cy="2575974"/>
          </a:xfrm>
        </p:grpSpPr>
        <p:sp>
          <p:nvSpPr>
            <p:cNvPr id="20" name="Freeform 20"/>
            <p:cNvSpPr/>
            <p:nvPr/>
          </p:nvSpPr>
          <p:spPr>
            <a:xfrm>
              <a:off x="0" y="0"/>
              <a:ext cx="2428944" cy="2428944"/>
            </a:xfrm>
            <a:custGeom>
              <a:avLst/>
              <a:gdLst/>
              <a:ahLst/>
              <a:cxnLst/>
              <a:rect l="l" t="t" r="r" b="b"/>
              <a:pathLst>
                <a:path w="2428944" h="2428944">
                  <a:moveTo>
                    <a:pt x="0" y="0"/>
                  </a:moveTo>
                  <a:lnTo>
                    <a:pt x="2428944" y="0"/>
                  </a:lnTo>
                  <a:lnTo>
                    <a:pt x="2428944" y="2428944"/>
                  </a:lnTo>
                  <a:lnTo>
                    <a:pt x="0" y="2428944"/>
                  </a:lnTo>
                  <a:lnTo>
                    <a:pt x="0" y="0"/>
                  </a:lnTo>
                  <a:close/>
                </a:path>
              </a:pathLst>
            </a:custGeom>
            <a:blipFill>
              <a:blip r:embed="rId4">
                <a:alphaModFix amt="44999"/>
                <a:extLst>
                  <a:ext uri="{96DAC541-7B7A-43D3-8B79-37D633B846F1}">
                    <asvg:svgBlip xmlns:asvg="http://schemas.microsoft.com/office/drawing/2016/SVG/main" r:embed="rId5"/>
                  </a:ext>
                </a:extLst>
              </a:blip>
              <a:stretch>
                <a:fillRect/>
              </a:stretch>
            </a:blipFill>
          </p:spPr>
        </p:sp>
        <p:sp>
          <p:nvSpPr>
            <p:cNvPr id="21" name="Freeform 21"/>
            <p:cNvSpPr/>
            <p:nvPr/>
          </p:nvSpPr>
          <p:spPr>
            <a:xfrm>
              <a:off x="252229" y="252229"/>
              <a:ext cx="1924487" cy="1924487"/>
            </a:xfrm>
            <a:custGeom>
              <a:avLst/>
              <a:gdLst/>
              <a:ahLst/>
              <a:cxnLst/>
              <a:rect l="l" t="t" r="r" b="b"/>
              <a:pathLst>
                <a:path w="1924487" h="1924487">
                  <a:moveTo>
                    <a:pt x="0" y="0"/>
                  </a:moveTo>
                  <a:lnTo>
                    <a:pt x="1924487" y="0"/>
                  </a:lnTo>
                  <a:lnTo>
                    <a:pt x="1924487" y="1924487"/>
                  </a:lnTo>
                  <a:lnTo>
                    <a:pt x="0" y="192448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2" name="Freeform 22"/>
            <p:cNvSpPr/>
            <p:nvPr/>
          </p:nvSpPr>
          <p:spPr>
            <a:xfrm>
              <a:off x="930756" y="836643"/>
              <a:ext cx="567431" cy="755659"/>
            </a:xfrm>
            <a:custGeom>
              <a:avLst/>
              <a:gdLst/>
              <a:ahLst/>
              <a:cxnLst/>
              <a:rect l="l" t="t" r="r" b="b"/>
              <a:pathLst>
                <a:path w="567431" h="755659">
                  <a:moveTo>
                    <a:pt x="0" y="0"/>
                  </a:moveTo>
                  <a:lnTo>
                    <a:pt x="567432" y="0"/>
                  </a:lnTo>
                  <a:lnTo>
                    <a:pt x="567432" y="755659"/>
                  </a:lnTo>
                  <a:lnTo>
                    <a:pt x="0" y="75565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3" name="TextBox 23"/>
            <p:cNvSpPr txBox="1"/>
            <p:nvPr/>
          </p:nvSpPr>
          <p:spPr>
            <a:xfrm>
              <a:off x="3492175" y="157770"/>
              <a:ext cx="5182806" cy="762000"/>
            </a:xfrm>
            <a:prstGeom prst="rect">
              <a:avLst/>
            </a:prstGeom>
          </p:spPr>
          <p:txBody>
            <a:bodyPr lIns="0" tIns="0" rIns="0" bIns="0" rtlCol="0" anchor="t">
              <a:spAutoFit/>
            </a:bodyPr>
            <a:lstStyle/>
            <a:p>
              <a:pPr marL="0" lvl="0" indent="0" algn="l">
                <a:lnSpc>
                  <a:spcPts val="4559"/>
                </a:lnSpc>
                <a:spcBef>
                  <a:spcPct val="0"/>
                </a:spcBef>
              </a:pPr>
              <a:r>
                <a:rPr lang="en-US" sz="3799" b="1" u="none">
                  <a:solidFill>
                    <a:srgbClr val="153969"/>
                  </a:solidFill>
                  <a:latin typeface="Klein Bold"/>
                  <a:ea typeface="Klein Bold"/>
                  <a:cs typeface="Klein Bold"/>
                  <a:sym typeface="Klein Bold"/>
                </a:rPr>
                <a:t>Goal # 3</a:t>
              </a:r>
            </a:p>
          </p:txBody>
        </p:sp>
        <p:sp>
          <p:nvSpPr>
            <p:cNvPr id="24" name="TextBox 24"/>
            <p:cNvSpPr txBox="1"/>
            <p:nvPr/>
          </p:nvSpPr>
          <p:spPr>
            <a:xfrm>
              <a:off x="3492175" y="778077"/>
              <a:ext cx="5182806" cy="1797897"/>
            </a:xfrm>
            <a:prstGeom prst="rect">
              <a:avLst/>
            </a:prstGeom>
          </p:spPr>
          <p:txBody>
            <a:bodyPr lIns="0" tIns="0" rIns="0" bIns="0" rtlCol="0" anchor="t">
              <a:spAutoFit/>
            </a:bodyPr>
            <a:lstStyle/>
            <a:p>
              <a:pPr marL="0" lvl="0" indent="0" algn="l">
                <a:lnSpc>
                  <a:spcPts val="3639"/>
                </a:lnSpc>
                <a:spcBef>
                  <a:spcPct val="0"/>
                </a:spcBef>
              </a:pPr>
              <a:r>
                <a:rPr lang="en-US" sz="2599">
                  <a:solidFill>
                    <a:srgbClr val="153969"/>
                  </a:solidFill>
                  <a:latin typeface="Helios"/>
                  <a:ea typeface="Helios"/>
                  <a:cs typeface="Helios"/>
                  <a:sym typeface="Helios"/>
                </a:rPr>
                <a:t>Visu</a:t>
              </a:r>
              <a:r>
                <a:rPr lang="en-US" sz="2599" u="none">
                  <a:solidFill>
                    <a:srgbClr val="153969"/>
                  </a:solidFill>
                  <a:latin typeface="Helios"/>
                  <a:ea typeface="Helios"/>
                  <a:cs typeface="Helios"/>
                  <a:sym typeface="Helios"/>
                </a:rPr>
                <a:t>alize delay trends and RTT patterns using Python libraries.</a:t>
              </a:r>
            </a:p>
          </p:txBody>
        </p:sp>
      </p:grpSp>
      <p:grpSp>
        <p:nvGrpSpPr>
          <p:cNvPr id="25" name="Group 25"/>
          <p:cNvGrpSpPr/>
          <p:nvPr/>
        </p:nvGrpSpPr>
        <p:grpSpPr>
          <a:xfrm>
            <a:off x="10035187" y="7949112"/>
            <a:ext cx="6506236" cy="1931981"/>
            <a:chOff x="0" y="0"/>
            <a:chExt cx="8674981" cy="2575974"/>
          </a:xfrm>
        </p:grpSpPr>
        <p:sp>
          <p:nvSpPr>
            <p:cNvPr id="26" name="Freeform 26"/>
            <p:cNvSpPr/>
            <p:nvPr/>
          </p:nvSpPr>
          <p:spPr>
            <a:xfrm>
              <a:off x="0" y="0"/>
              <a:ext cx="2428944" cy="2428944"/>
            </a:xfrm>
            <a:custGeom>
              <a:avLst/>
              <a:gdLst/>
              <a:ahLst/>
              <a:cxnLst/>
              <a:rect l="l" t="t" r="r" b="b"/>
              <a:pathLst>
                <a:path w="2428944" h="2428944">
                  <a:moveTo>
                    <a:pt x="0" y="0"/>
                  </a:moveTo>
                  <a:lnTo>
                    <a:pt x="2428944" y="0"/>
                  </a:lnTo>
                  <a:lnTo>
                    <a:pt x="2428944" y="2428944"/>
                  </a:lnTo>
                  <a:lnTo>
                    <a:pt x="0" y="2428944"/>
                  </a:lnTo>
                  <a:lnTo>
                    <a:pt x="0" y="0"/>
                  </a:lnTo>
                  <a:close/>
                </a:path>
              </a:pathLst>
            </a:custGeom>
            <a:blipFill>
              <a:blip r:embed="rId4">
                <a:alphaModFix amt="44999"/>
                <a:extLst>
                  <a:ext uri="{96DAC541-7B7A-43D3-8B79-37D633B846F1}">
                    <asvg:svgBlip xmlns:asvg="http://schemas.microsoft.com/office/drawing/2016/SVG/main" r:embed="rId5"/>
                  </a:ext>
                </a:extLst>
              </a:blip>
              <a:stretch>
                <a:fillRect/>
              </a:stretch>
            </a:blipFill>
          </p:spPr>
        </p:sp>
        <p:sp>
          <p:nvSpPr>
            <p:cNvPr id="27" name="Freeform 27"/>
            <p:cNvSpPr/>
            <p:nvPr/>
          </p:nvSpPr>
          <p:spPr>
            <a:xfrm>
              <a:off x="252229" y="252229"/>
              <a:ext cx="1924487" cy="1924487"/>
            </a:xfrm>
            <a:custGeom>
              <a:avLst/>
              <a:gdLst/>
              <a:ahLst/>
              <a:cxnLst/>
              <a:rect l="l" t="t" r="r" b="b"/>
              <a:pathLst>
                <a:path w="1924487" h="1924487">
                  <a:moveTo>
                    <a:pt x="0" y="0"/>
                  </a:moveTo>
                  <a:lnTo>
                    <a:pt x="1924487" y="0"/>
                  </a:lnTo>
                  <a:lnTo>
                    <a:pt x="1924487" y="1924487"/>
                  </a:lnTo>
                  <a:lnTo>
                    <a:pt x="0" y="192448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8" name="Freeform 28"/>
            <p:cNvSpPr/>
            <p:nvPr/>
          </p:nvSpPr>
          <p:spPr>
            <a:xfrm>
              <a:off x="930756" y="836643"/>
              <a:ext cx="567431" cy="755659"/>
            </a:xfrm>
            <a:custGeom>
              <a:avLst/>
              <a:gdLst/>
              <a:ahLst/>
              <a:cxnLst/>
              <a:rect l="l" t="t" r="r" b="b"/>
              <a:pathLst>
                <a:path w="567431" h="755659">
                  <a:moveTo>
                    <a:pt x="0" y="0"/>
                  </a:moveTo>
                  <a:lnTo>
                    <a:pt x="567432" y="0"/>
                  </a:lnTo>
                  <a:lnTo>
                    <a:pt x="567432" y="755659"/>
                  </a:lnTo>
                  <a:lnTo>
                    <a:pt x="0" y="75565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9" name="TextBox 29"/>
            <p:cNvSpPr txBox="1"/>
            <p:nvPr/>
          </p:nvSpPr>
          <p:spPr>
            <a:xfrm>
              <a:off x="3492175" y="157770"/>
              <a:ext cx="5182806" cy="762000"/>
            </a:xfrm>
            <a:prstGeom prst="rect">
              <a:avLst/>
            </a:prstGeom>
          </p:spPr>
          <p:txBody>
            <a:bodyPr lIns="0" tIns="0" rIns="0" bIns="0" rtlCol="0" anchor="t">
              <a:spAutoFit/>
            </a:bodyPr>
            <a:lstStyle/>
            <a:p>
              <a:pPr marL="0" lvl="0" indent="0" algn="l">
                <a:lnSpc>
                  <a:spcPts val="4559"/>
                </a:lnSpc>
                <a:spcBef>
                  <a:spcPct val="0"/>
                </a:spcBef>
              </a:pPr>
              <a:r>
                <a:rPr lang="en-US" sz="3799" b="1" u="none">
                  <a:solidFill>
                    <a:srgbClr val="153969"/>
                  </a:solidFill>
                  <a:latin typeface="Klein Bold"/>
                  <a:ea typeface="Klein Bold"/>
                  <a:cs typeface="Klein Bold"/>
                  <a:sym typeface="Klein Bold"/>
                </a:rPr>
                <a:t>Goal # 4</a:t>
              </a:r>
            </a:p>
          </p:txBody>
        </p:sp>
        <p:sp>
          <p:nvSpPr>
            <p:cNvPr id="30" name="TextBox 30"/>
            <p:cNvSpPr txBox="1"/>
            <p:nvPr/>
          </p:nvSpPr>
          <p:spPr>
            <a:xfrm>
              <a:off x="3492175" y="778077"/>
              <a:ext cx="5182806" cy="1797897"/>
            </a:xfrm>
            <a:prstGeom prst="rect">
              <a:avLst/>
            </a:prstGeom>
          </p:spPr>
          <p:txBody>
            <a:bodyPr lIns="0" tIns="0" rIns="0" bIns="0" rtlCol="0" anchor="t">
              <a:spAutoFit/>
            </a:bodyPr>
            <a:lstStyle/>
            <a:p>
              <a:pPr marL="0" lvl="0" indent="0" algn="l">
                <a:lnSpc>
                  <a:spcPts val="3639"/>
                </a:lnSpc>
                <a:spcBef>
                  <a:spcPct val="0"/>
                </a:spcBef>
              </a:pPr>
              <a:r>
                <a:rPr lang="en-US" sz="2599">
                  <a:solidFill>
                    <a:srgbClr val="153969"/>
                  </a:solidFill>
                  <a:latin typeface="Helios"/>
                  <a:ea typeface="Helios"/>
                  <a:cs typeface="Helios"/>
                  <a:sym typeface="Helios"/>
                </a:rPr>
                <a:t>Id</a:t>
              </a:r>
              <a:r>
                <a:rPr lang="en-US" sz="2599" u="none">
                  <a:solidFill>
                    <a:srgbClr val="153969"/>
                  </a:solidFill>
                  <a:latin typeface="Helios"/>
                  <a:ea typeface="Helios"/>
                  <a:cs typeface="Helios"/>
                  <a:sym typeface="Helios"/>
                </a:rPr>
                <a:t>entify bottlenecks and unusual delay spikes in the network.</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1000"/>
                                        <p:tgtEl>
                                          <p:spTgt spid="19"/>
                                        </p:tgtEl>
                                      </p:cBhvr>
                                    </p:animEffect>
                                    <p:anim calcmode="lin" valueType="num">
                                      <p:cBhvr>
                                        <p:cTn id="18" dur="1000" fill="hold"/>
                                        <p:tgtEl>
                                          <p:spTgt spid="19"/>
                                        </p:tgtEl>
                                        <p:attrNameLst>
                                          <p:attrName>ppt_x</p:attrName>
                                        </p:attrNameLst>
                                      </p:cBhvr>
                                      <p:tavLst>
                                        <p:tav tm="0">
                                          <p:val>
                                            <p:strVal val="#ppt_x"/>
                                          </p:val>
                                        </p:tav>
                                        <p:tav tm="100000">
                                          <p:val>
                                            <p:strVal val="#ppt_x"/>
                                          </p:val>
                                        </p:tav>
                                      </p:tavLst>
                                    </p:anim>
                                    <p:anim calcmode="lin" valueType="num">
                                      <p:cBhvr>
                                        <p:cTn id="19" dur="1000" fill="hold"/>
                                        <p:tgtEl>
                                          <p:spTgt spid="19"/>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1000"/>
                                        <p:tgtEl>
                                          <p:spTgt spid="25"/>
                                        </p:tgtEl>
                                      </p:cBhvr>
                                    </p:animEffect>
                                    <p:anim calcmode="lin" valueType="num">
                                      <p:cBhvr>
                                        <p:cTn id="23" dur="1000" fill="hold"/>
                                        <p:tgtEl>
                                          <p:spTgt spid="25"/>
                                        </p:tgtEl>
                                        <p:attrNameLst>
                                          <p:attrName>ppt_x</p:attrName>
                                        </p:attrNameLst>
                                      </p:cBhvr>
                                      <p:tavLst>
                                        <p:tav tm="0">
                                          <p:val>
                                            <p:strVal val="#ppt_x"/>
                                          </p:val>
                                        </p:tav>
                                        <p:tav tm="100000">
                                          <p:val>
                                            <p:strVal val="#ppt_x"/>
                                          </p:val>
                                        </p:tav>
                                      </p:tavLst>
                                    </p:anim>
                                    <p:anim calcmode="lin" valueType="num">
                                      <p:cBhvr>
                                        <p:cTn id="24"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534562"/>
            <a:ext cx="16230600" cy="1228725"/>
          </a:xfrm>
          <a:prstGeom prst="rect">
            <a:avLst/>
          </a:prstGeom>
        </p:spPr>
        <p:txBody>
          <a:bodyPr lIns="0" tIns="0" rIns="0" bIns="0" rtlCol="0" anchor="t">
            <a:spAutoFit/>
          </a:bodyPr>
          <a:lstStyle/>
          <a:p>
            <a:pPr marL="0" lvl="0" indent="0" algn="l">
              <a:lnSpc>
                <a:spcPts val="9600"/>
              </a:lnSpc>
              <a:spcBef>
                <a:spcPct val="0"/>
              </a:spcBef>
            </a:pPr>
            <a:r>
              <a:rPr lang="en-US" sz="8000" b="1">
                <a:solidFill>
                  <a:srgbClr val="153969"/>
                </a:solidFill>
                <a:latin typeface="Klein Bold"/>
                <a:ea typeface="Klein Bold"/>
                <a:cs typeface="Klein Bold"/>
                <a:sym typeface="Klein Bold"/>
              </a:rPr>
              <a:t>Phases:</a:t>
            </a:r>
          </a:p>
        </p:txBody>
      </p:sp>
      <p:grpSp>
        <p:nvGrpSpPr>
          <p:cNvPr id="3" name="Group 3"/>
          <p:cNvGrpSpPr/>
          <p:nvPr/>
        </p:nvGrpSpPr>
        <p:grpSpPr>
          <a:xfrm>
            <a:off x="803429" y="3879429"/>
            <a:ext cx="16681142" cy="3693192"/>
            <a:chOff x="0" y="0"/>
            <a:chExt cx="22241522" cy="4924256"/>
          </a:xfrm>
        </p:grpSpPr>
        <p:sp>
          <p:nvSpPr>
            <p:cNvPr id="4" name="AutoShape 4"/>
            <p:cNvSpPr/>
            <p:nvPr/>
          </p:nvSpPr>
          <p:spPr>
            <a:xfrm>
              <a:off x="600722" y="215900"/>
              <a:ext cx="21424900" cy="0"/>
            </a:xfrm>
            <a:prstGeom prst="line">
              <a:avLst/>
            </a:prstGeom>
            <a:ln w="25400" cap="rnd">
              <a:solidFill>
                <a:srgbClr val="153969"/>
              </a:solidFill>
              <a:prstDash val="solid"/>
              <a:headEnd type="none" w="sm" len="sm"/>
              <a:tailEnd type="none" w="sm" len="sm"/>
            </a:ln>
          </p:spPr>
        </p:sp>
        <p:grpSp>
          <p:nvGrpSpPr>
            <p:cNvPr id="5" name="Group 5"/>
            <p:cNvGrpSpPr/>
            <p:nvPr/>
          </p:nvGrpSpPr>
          <p:grpSpPr>
            <a:xfrm>
              <a:off x="384822" y="12700"/>
              <a:ext cx="431800" cy="431800"/>
              <a:chOff x="0" y="0"/>
              <a:chExt cx="6350000" cy="6350000"/>
            </a:xfrm>
          </p:grpSpPr>
          <p:sp>
            <p:nvSpPr>
              <p:cNvPr id="6" name="Freeform 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53969"/>
              </a:solidFill>
            </p:spPr>
          </p:sp>
        </p:grpSp>
        <p:grpSp>
          <p:nvGrpSpPr>
            <p:cNvPr id="7" name="Group 7"/>
            <p:cNvGrpSpPr/>
            <p:nvPr/>
          </p:nvGrpSpPr>
          <p:grpSpPr>
            <a:xfrm>
              <a:off x="6102900" y="0"/>
              <a:ext cx="431800" cy="431800"/>
              <a:chOff x="0" y="0"/>
              <a:chExt cx="6350000" cy="6350000"/>
            </a:xfrm>
          </p:grpSpPr>
          <p:sp>
            <p:nvSpPr>
              <p:cNvPr id="8" name="Freeform 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53969"/>
              </a:solidFill>
            </p:spPr>
          </p:sp>
        </p:grpSp>
        <p:grpSp>
          <p:nvGrpSpPr>
            <p:cNvPr id="9" name="Group 9"/>
            <p:cNvGrpSpPr/>
            <p:nvPr/>
          </p:nvGrpSpPr>
          <p:grpSpPr>
            <a:xfrm>
              <a:off x="11820978" y="0"/>
              <a:ext cx="431800" cy="431800"/>
              <a:chOff x="0" y="0"/>
              <a:chExt cx="6350000" cy="6350000"/>
            </a:xfrm>
          </p:grpSpPr>
          <p:sp>
            <p:nvSpPr>
              <p:cNvPr id="10" name="Freeform 1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53969"/>
              </a:solidFill>
            </p:spPr>
          </p:sp>
        </p:grpSp>
        <p:grpSp>
          <p:nvGrpSpPr>
            <p:cNvPr id="11" name="Group 11"/>
            <p:cNvGrpSpPr/>
            <p:nvPr/>
          </p:nvGrpSpPr>
          <p:grpSpPr>
            <a:xfrm>
              <a:off x="17539056" y="0"/>
              <a:ext cx="431800" cy="431800"/>
              <a:chOff x="0" y="0"/>
              <a:chExt cx="6350000" cy="6350000"/>
            </a:xfrm>
          </p:grpSpPr>
          <p:sp>
            <p:nvSpPr>
              <p:cNvPr id="12" name="Freeform 1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53969"/>
              </a:solidFill>
            </p:spPr>
          </p:sp>
        </p:grpSp>
        <p:sp>
          <p:nvSpPr>
            <p:cNvPr id="13" name="TextBox 13"/>
            <p:cNvSpPr txBox="1"/>
            <p:nvPr/>
          </p:nvSpPr>
          <p:spPr>
            <a:xfrm>
              <a:off x="600722" y="746125"/>
              <a:ext cx="4486566" cy="1772751"/>
            </a:xfrm>
            <a:prstGeom prst="rect">
              <a:avLst/>
            </a:prstGeom>
          </p:spPr>
          <p:txBody>
            <a:bodyPr lIns="0" tIns="0" rIns="0" bIns="0" rtlCol="0" anchor="t">
              <a:spAutoFit/>
            </a:bodyPr>
            <a:lstStyle/>
            <a:p>
              <a:pPr algn="l">
                <a:lnSpc>
                  <a:spcPts val="3571"/>
                </a:lnSpc>
              </a:pPr>
              <a:r>
                <a:rPr lang="en-US" sz="2747" b="1" dirty="0">
                  <a:solidFill>
                    <a:srgbClr val="718BAB"/>
                  </a:solidFill>
                  <a:latin typeface="Helios Bold"/>
                  <a:ea typeface="Helios Bold"/>
                  <a:cs typeface="Helios Bold"/>
                  <a:sym typeface="Helios Bold"/>
                </a:rPr>
                <a:t>PHASE 1 – DATA COLLECTION</a:t>
              </a:r>
            </a:p>
            <a:p>
              <a:pPr marL="0" lvl="0" indent="0" algn="l">
                <a:lnSpc>
                  <a:spcPts val="3571"/>
                </a:lnSpc>
                <a:spcBef>
                  <a:spcPct val="0"/>
                </a:spcBef>
              </a:pPr>
              <a:r>
                <a:rPr lang="en-US" sz="2747" b="1" dirty="0">
                  <a:solidFill>
                    <a:srgbClr val="718BAB"/>
                  </a:solidFill>
                  <a:latin typeface="Helios Bold"/>
                  <a:ea typeface="Helios Bold"/>
                  <a:cs typeface="Helios Bold"/>
                  <a:sym typeface="Helios Bold"/>
                </a:rPr>
                <a:t> </a:t>
              </a:r>
            </a:p>
          </p:txBody>
        </p:sp>
        <p:sp>
          <p:nvSpPr>
            <p:cNvPr id="14" name="TextBox 14"/>
            <p:cNvSpPr txBox="1"/>
            <p:nvPr/>
          </p:nvSpPr>
          <p:spPr>
            <a:xfrm>
              <a:off x="0" y="2471251"/>
              <a:ext cx="5087289" cy="1957705"/>
            </a:xfrm>
            <a:prstGeom prst="rect">
              <a:avLst/>
            </a:prstGeom>
          </p:spPr>
          <p:txBody>
            <a:bodyPr lIns="0" tIns="0" rIns="0" bIns="0" rtlCol="0" anchor="t">
              <a:spAutoFit/>
            </a:bodyPr>
            <a:lstStyle/>
            <a:p>
              <a:pPr marL="453390" lvl="1" indent="-226695" algn="l">
                <a:lnSpc>
                  <a:spcPts val="2940"/>
                </a:lnSpc>
                <a:buFont typeface="Arial"/>
                <a:buChar char="•"/>
              </a:pPr>
              <a:r>
                <a:rPr lang="en-US" sz="2100" b="1" dirty="0">
                  <a:solidFill>
                    <a:srgbClr val="153969"/>
                  </a:solidFill>
                  <a:latin typeface="Helios Bold"/>
                  <a:ea typeface="Helios Bold"/>
                  <a:cs typeface="Helios Bold"/>
                  <a:sym typeface="Helios Bold"/>
                </a:rPr>
                <a:t>Wireshark captures traffic (.</a:t>
              </a:r>
              <a:r>
                <a:rPr lang="en-US" sz="2100" b="1" dirty="0" err="1">
                  <a:solidFill>
                    <a:srgbClr val="153969"/>
                  </a:solidFill>
                  <a:latin typeface="Helios Bold"/>
                  <a:ea typeface="Helios Bold"/>
                  <a:cs typeface="Helios Bold"/>
                  <a:sym typeface="Helios Bold"/>
                </a:rPr>
                <a:t>pcap</a:t>
              </a:r>
              <a:r>
                <a:rPr lang="en-US" sz="2100" b="1" dirty="0">
                  <a:solidFill>
                    <a:srgbClr val="153969"/>
                  </a:solidFill>
                  <a:latin typeface="Helios Bold"/>
                  <a:ea typeface="Helios Bold"/>
                  <a:cs typeface="Helios Bold"/>
                  <a:sym typeface="Helios Bold"/>
                </a:rPr>
                <a:t>)</a:t>
              </a:r>
            </a:p>
            <a:p>
              <a:pPr marL="453390" lvl="1" indent="-226695" algn="l">
                <a:lnSpc>
                  <a:spcPts val="2940"/>
                </a:lnSpc>
                <a:buFont typeface="Arial"/>
                <a:buChar char="•"/>
              </a:pPr>
              <a:r>
                <a:rPr lang="en-US" sz="2100" b="1" dirty="0">
                  <a:solidFill>
                    <a:srgbClr val="153969"/>
                  </a:solidFill>
                  <a:latin typeface="Helios Bold"/>
                  <a:ea typeface="Helios Bold"/>
                  <a:cs typeface="Helios Bold"/>
                  <a:sym typeface="Helios Bold"/>
                </a:rPr>
                <a:t>  Focus on TCP, ICMP, HTTP</a:t>
              </a:r>
            </a:p>
          </p:txBody>
        </p:sp>
        <p:sp>
          <p:nvSpPr>
            <p:cNvPr id="15" name="TextBox 15"/>
            <p:cNvSpPr txBox="1"/>
            <p:nvPr/>
          </p:nvSpPr>
          <p:spPr>
            <a:xfrm>
              <a:off x="6318800" y="726377"/>
              <a:ext cx="4486566" cy="1772751"/>
            </a:xfrm>
            <a:prstGeom prst="rect">
              <a:avLst/>
            </a:prstGeom>
          </p:spPr>
          <p:txBody>
            <a:bodyPr lIns="0" tIns="0" rIns="0" bIns="0" rtlCol="0" anchor="t">
              <a:spAutoFit/>
            </a:bodyPr>
            <a:lstStyle/>
            <a:p>
              <a:pPr algn="l">
                <a:lnSpc>
                  <a:spcPts val="3571"/>
                </a:lnSpc>
              </a:pPr>
              <a:r>
                <a:rPr lang="en-US" sz="2747" b="1">
                  <a:solidFill>
                    <a:srgbClr val="718BAB"/>
                  </a:solidFill>
                  <a:latin typeface="Helios Bold"/>
                  <a:ea typeface="Helios Bold"/>
                  <a:cs typeface="Helios Bold"/>
                  <a:sym typeface="Helios Bold"/>
                </a:rPr>
                <a:t>PHASE 2 – DATA PROCESSING</a:t>
              </a:r>
            </a:p>
            <a:p>
              <a:pPr marL="0" lvl="0" indent="0" algn="l">
                <a:lnSpc>
                  <a:spcPts val="3571"/>
                </a:lnSpc>
                <a:spcBef>
                  <a:spcPct val="0"/>
                </a:spcBef>
              </a:pPr>
              <a:r>
                <a:rPr lang="en-US" sz="2747" b="1">
                  <a:solidFill>
                    <a:srgbClr val="718BAB"/>
                  </a:solidFill>
                  <a:latin typeface="Helios Bold"/>
                  <a:ea typeface="Helios Bold"/>
                  <a:cs typeface="Helios Bold"/>
                  <a:sym typeface="Helios Bold"/>
                </a:rPr>
                <a:t> </a:t>
              </a:r>
            </a:p>
          </p:txBody>
        </p:sp>
        <p:sp>
          <p:nvSpPr>
            <p:cNvPr id="16" name="TextBox 16"/>
            <p:cNvSpPr txBox="1"/>
            <p:nvPr/>
          </p:nvSpPr>
          <p:spPr>
            <a:xfrm>
              <a:off x="5851516" y="2471251"/>
              <a:ext cx="4514053" cy="1957705"/>
            </a:xfrm>
            <a:prstGeom prst="rect">
              <a:avLst/>
            </a:prstGeom>
          </p:spPr>
          <p:txBody>
            <a:bodyPr lIns="0" tIns="0" rIns="0" bIns="0" rtlCol="0" anchor="t">
              <a:spAutoFit/>
            </a:bodyPr>
            <a:lstStyle/>
            <a:p>
              <a:pPr marL="453390" lvl="1" indent="-226695" algn="l">
                <a:lnSpc>
                  <a:spcPts val="2940"/>
                </a:lnSpc>
                <a:buFont typeface="Arial"/>
                <a:buChar char="•"/>
              </a:pPr>
              <a:r>
                <a:rPr lang="en-US" sz="2100" b="1">
                  <a:solidFill>
                    <a:srgbClr val="153969"/>
                  </a:solidFill>
                  <a:latin typeface="Helios Bold"/>
                  <a:ea typeface="Helios Bold"/>
                  <a:cs typeface="Helios Bold"/>
                  <a:sym typeface="Helios Bold"/>
                </a:rPr>
                <a:t> Python (Scapy, Pandas)</a:t>
              </a:r>
            </a:p>
            <a:p>
              <a:pPr marL="453390" lvl="1" indent="-226695" algn="l">
                <a:lnSpc>
                  <a:spcPts val="2940"/>
                </a:lnSpc>
                <a:buFont typeface="Arial"/>
                <a:buChar char="•"/>
              </a:pPr>
              <a:r>
                <a:rPr lang="en-US" sz="2100" b="1">
                  <a:solidFill>
                    <a:srgbClr val="153969"/>
                  </a:solidFill>
                  <a:latin typeface="Helios Bold"/>
                  <a:ea typeface="Helios Bold"/>
                  <a:cs typeface="Helios Bold"/>
                  <a:sym typeface="Helios Bold"/>
                </a:rPr>
                <a:t> Extract timestamps</a:t>
              </a:r>
            </a:p>
            <a:p>
              <a:pPr marL="453390" lvl="1" indent="-226695" algn="l">
                <a:lnSpc>
                  <a:spcPts val="2940"/>
                </a:lnSpc>
                <a:buFont typeface="Arial"/>
                <a:buChar char="•"/>
              </a:pPr>
              <a:r>
                <a:rPr lang="en-US" sz="2100" b="1">
                  <a:solidFill>
                    <a:srgbClr val="153969"/>
                  </a:solidFill>
                  <a:latin typeface="Helios Bold"/>
                  <a:ea typeface="Helios Bold"/>
                  <a:cs typeface="Helios Bold"/>
                  <a:sym typeface="Helios Bold"/>
                </a:rPr>
                <a:t> Calculate Delay &amp; RTT</a:t>
              </a:r>
            </a:p>
          </p:txBody>
        </p:sp>
        <p:sp>
          <p:nvSpPr>
            <p:cNvPr id="17" name="TextBox 17"/>
            <p:cNvSpPr txBox="1"/>
            <p:nvPr/>
          </p:nvSpPr>
          <p:spPr>
            <a:xfrm>
              <a:off x="12036878" y="726377"/>
              <a:ext cx="4486566" cy="1772751"/>
            </a:xfrm>
            <a:prstGeom prst="rect">
              <a:avLst/>
            </a:prstGeom>
          </p:spPr>
          <p:txBody>
            <a:bodyPr lIns="0" tIns="0" rIns="0" bIns="0" rtlCol="0" anchor="t">
              <a:spAutoFit/>
            </a:bodyPr>
            <a:lstStyle/>
            <a:p>
              <a:pPr algn="l">
                <a:lnSpc>
                  <a:spcPts val="3571"/>
                </a:lnSpc>
              </a:pPr>
              <a:r>
                <a:rPr lang="en-US" sz="2747" b="1">
                  <a:solidFill>
                    <a:srgbClr val="718BAB"/>
                  </a:solidFill>
                  <a:latin typeface="Helios Bold"/>
                  <a:ea typeface="Helios Bold"/>
                  <a:cs typeface="Helios Bold"/>
                  <a:sym typeface="Helios Bold"/>
                </a:rPr>
                <a:t>PHASE 3 – VISUALIZATION</a:t>
              </a:r>
            </a:p>
            <a:p>
              <a:pPr marL="0" lvl="0" indent="0" algn="l">
                <a:lnSpc>
                  <a:spcPts val="3571"/>
                </a:lnSpc>
                <a:spcBef>
                  <a:spcPct val="0"/>
                </a:spcBef>
              </a:pPr>
              <a:r>
                <a:rPr lang="en-US" sz="2747" b="1">
                  <a:solidFill>
                    <a:srgbClr val="718BAB"/>
                  </a:solidFill>
                  <a:latin typeface="Helios Bold"/>
                  <a:ea typeface="Helios Bold"/>
                  <a:cs typeface="Helios Bold"/>
                  <a:sym typeface="Helios Bold"/>
                </a:rPr>
                <a:t> </a:t>
              </a:r>
            </a:p>
          </p:txBody>
        </p:sp>
        <p:sp>
          <p:nvSpPr>
            <p:cNvPr id="18" name="TextBox 18"/>
            <p:cNvSpPr txBox="1"/>
            <p:nvPr/>
          </p:nvSpPr>
          <p:spPr>
            <a:xfrm>
              <a:off x="11709030" y="2471251"/>
              <a:ext cx="4486566" cy="1957705"/>
            </a:xfrm>
            <a:prstGeom prst="rect">
              <a:avLst/>
            </a:prstGeom>
          </p:spPr>
          <p:txBody>
            <a:bodyPr lIns="0" tIns="0" rIns="0" bIns="0" rtlCol="0" anchor="t">
              <a:spAutoFit/>
            </a:bodyPr>
            <a:lstStyle/>
            <a:p>
              <a:pPr marL="453390" lvl="1" indent="-226695" algn="l">
                <a:lnSpc>
                  <a:spcPts val="2940"/>
                </a:lnSpc>
                <a:buFont typeface="Arial"/>
                <a:buChar char="•"/>
              </a:pPr>
              <a:r>
                <a:rPr lang="en-US" sz="2100" b="1">
                  <a:solidFill>
                    <a:srgbClr val="153969"/>
                  </a:solidFill>
                  <a:latin typeface="Helios Bold"/>
                  <a:ea typeface="Helios Bold"/>
                  <a:cs typeface="Helios Bold"/>
                  <a:sym typeface="Helios Bold"/>
                </a:rPr>
                <a:t>Matplotlib, Seaborn, Plotly (optional)</a:t>
              </a:r>
            </a:p>
            <a:p>
              <a:pPr marL="453390" lvl="1" indent="-226695" algn="l">
                <a:lnSpc>
                  <a:spcPts val="2940"/>
                </a:lnSpc>
                <a:buFont typeface="Arial"/>
                <a:buChar char="•"/>
              </a:pPr>
              <a:r>
                <a:rPr lang="en-US" sz="2100" b="1">
                  <a:solidFill>
                    <a:srgbClr val="153969"/>
                  </a:solidFill>
                  <a:latin typeface="Helios Bold"/>
                  <a:ea typeface="Helios Bold"/>
                  <a:cs typeface="Helios Bold"/>
                  <a:sym typeface="Helios Bold"/>
                </a:rPr>
                <a:t>Trends: spikes, avg RTT, anomalies</a:t>
              </a:r>
            </a:p>
          </p:txBody>
        </p:sp>
        <p:sp>
          <p:nvSpPr>
            <p:cNvPr id="19" name="TextBox 19"/>
            <p:cNvSpPr txBox="1"/>
            <p:nvPr/>
          </p:nvSpPr>
          <p:spPr>
            <a:xfrm>
              <a:off x="17754956" y="726377"/>
              <a:ext cx="4486566" cy="1772751"/>
            </a:xfrm>
            <a:prstGeom prst="rect">
              <a:avLst/>
            </a:prstGeom>
          </p:spPr>
          <p:txBody>
            <a:bodyPr lIns="0" tIns="0" rIns="0" bIns="0" rtlCol="0" anchor="t">
              <a:spAutoFit/>
            </a:bodyPr>
            <a:lstStyle/>
            <a:p>
              <a:pPr algn="l">
                <a:lnSpc>
                  <a:spcPts val="3571"/>
                </a:lnSpc>
              </a:pPr>
              <a:r>
                <a:rPr lang="en-US" sz="2747" b="1">
                  <a:solidFill>
                    <a:srgbClr val="718BAB"/>
                  </a:solidFill>
                  <a:latin typeface="Helios Bold"/>
                  <a:ea typeface="Helios Bold"/>
                  <a:cs typeface="Helios Bold"/>
                  <a:sym typeface="Helios Bold"/>
                </a:rPr>
                <a:t>PHASE 4 – INTERPRETATION</a:t>
              </a:r>
            </a:p>
            <a:p>
              <a:pPr marL="0" lvl="0" indent="0" algn="l">
                <a:lnSpc>
                  <a:spcPts val="3571"/>
                </a:lnSpc>
                <a:spcBef>
                  <a:spcPct val="0"/>
                </a:spcBef>
              </a:pPr>
              <a:r>
                <a:rPr lang="en-US" sz="2747" b="1">
                  <a:solidFill>
                    <a:srgbClr val="718BAB"/>
                  </a:solidFill>
                  <a:latin typeface="Helios Bold"/>
                  <a:ea typeface="Helios Bold"/>
                  <a:cs typeface="Helios Bold"/>
                  <a:sym typeface="Helios Bold"/>
                </a:rPr>
                <a:t> </a:t>
              </a:r>
            </a:p>
          </p:txBody>
        </p:sp>
        <p:sp>
          <p:nvSpPr>
            <p:cNvPr id="20" name="TextBox 20"/>
            <p:cNvSpPr txBox="1"/>
            <p:nvPr/>
          </p:nvSpPr>
          <p:spPr>
            <a:xfrm>
              <a:off x="17315159" y="2471251"/>
              <a:ext cx="4926363" cy="2453005"/>
            </a:xfrm>
            <a:prstGeom prst="rect">
              <a:avLst/>
            </a:prstGeom>
          </p:spPr>
          <p:txBody>
            <a:bodyPr lIns="0" tIns="0" rIns="0" bIns="0" rtlCol="0" anchor="t">
              <a:spAutoFit/>
            </a:bodyPr>
            <a:lstStyle/>
            <a:p>
              <a:pPr marL="453390" lvl="1" indent="-226695" algn="l">
                <a:lnSpc>
                  <a:spcPts val="2940"/>
                </a:lnSpc>
                <a:buFont typeface="Arial"/>
                <a:buChar char="•"/>
              </a:pPr>
              <a:r>
                <a:rPr lang="en-US" sz="2100" b="1">
                  <a:solidFill>
                    <a:srgbClr val="153969"/>
                  </a:solidFill>
                  <a:latin typeface="Helios Bold"/>
                  <a:ea typeface="Helios Bold"/>
                  <a:cs typeface="Helios Bold"/>
                  <a:sym typeface="Helios Bold"/>
                </a:rPr>
                <a:t>Analyze under different loads</a:t>
              </a:r>
            </a:p>
            <a:p>
              <a:pPr marL="453390" lvl="1" indent="-226695" algn="l">
                <a:lnSpc>
                  <a:spcPts val="2940"/>
                </a:lnSpc>
                <a:buFont typeface="Arial"/>
                <a:buChar char="•"/>
              </a:pPr>
              <a:r>
                <a:rPr lang="en-US" sz="2100" b="1">
                  <a:solidFill>
                    <a:srgbClr val="153969"/>
                  </a:solidFill>
                  <a:latin typeface="Helios Bold"/>
                  <a:ea typeface="Helios Bold"/>
                  <a:cs typeface="Helios Bold"/>
                  <a:sym typeface="Helios Bold"/>
                </a:rPr>
                <a:t>Detect bottlenecks</a:t>
              </a:r>
            </a:p>
            <a:p>
              <a:pPr marL="453390" lvl="1" indent="-226695" algn="l">
                <a:lnSpc>
                  <a:spcPts val="2940"/>
                </a:lnSpc>
                <a:buFont typeface="Arial"/>
                <a:buChar char="•"/>
              </a:pPr>
              <a:r>
                <a:rPr lang="en-US" sz="2100" b="1">
                  <a:solidFill>
                    <a:srgbClr val="153969"/>
                  </a:solidFill>
                  <a:latin typeface="Helios Bold"/>
                  <a:ea typeface="Helios Bold"/>
                  <a:cs typeface="Helios Bold"/>
                  <a:sym typeface="Helios Bold"/>
                </a:rPr>
                <a:t>Suggest performance improvements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0" y="-8868"/>
            <a:ext cx="9144000" cy="10295868"/>
            <a:chOff x="0" y="0"/>
            <a:chExt cx="2408296" cy="2711669"/>
          </a:xfrm>
        </p:grpSpPr>
        <p:sp>
          <p:nvSpPr>
            <p:cNvPr id="3" name="Freeform 3"/>
            <p:cNvSpPr/>
            <p:nvPr/>
          </p:nvSpPr>
          <p:spPr>
            <a:xfrm>
              <a:off x="0" y="0"/>
              <a:ext cx="2408296" cy="2711669"/>
            </a:xfrm>
            <a:custGeom>
              <a:avLst/>
              <a:gdLst/>
              <a:ahLst/>
              <a:cxnLst/>
              <a:rect l="l" t="t" r="r" b="b"/>
              <a:pathLst>
                <a:path w="2408296" h="2711669">
                  <a:moveTo>
                    <a:pt x="0" y="0"/>
                  </a:moveTo>
                  <a:lnTo>
                    <a:pt x="2408296" y="0"/>
                  </a:lnTo>
                  <a:lnTo>
                    <a:pt x="2408296" y="2711669"/>
                  </a:lnTo>
                  <a:lnTo>
                    <a:pt x="0" y="2711669"/>
                  </a:lnTo>
                  <a:close/>
                </a:path>
              </a:pathLst>
            </a:custGeom>
            <a:solidFill>
              <a:srgbClr val="F4F4F4"/>
            </a:solidFill>
          </p:spPr>
        </p:sp>
        <p:sp>
          <p:nvSpPr>
            <p:cNvPr id="4" name="TextBox 4"/>
            <p:cNvSpPr txBox="1"/>
            <p:nvPr/>
          </p:nvSpPr>
          <p:spPr>
            <a:xfrm>
              <a:off x="0" y="-38100"/>
              <a:ext cx="2408296" cy="2749769"/>
            </a:xfrm>
            <a:prstGeom prst="rect">
              <a:avLst/>
            </a:prstGeom>
          </p:spPr>
          <p:txBody>
            <a:bodyPr lIns="50800" tIns="50800" rIns="50800" bIns="50800" rtlCol="0" anchor="ctr"/>
            <a:lstStyle/>
            <a:p>
              <a:pPr algn="ctr">
                <a:lnSpc>
                  <a:spcPts val="2100"/>
                </a:lnSpc>
              </a:pPr>
              <a:endParaRPr/>
            </a:p>
          </p:txBody>
        </p:sp>
      </p:grpSp>
      <p:sp>
        <p:nvSpPr>
          <p:cNvPr id="5" name="TextBox 5"/>
          <p:cNvSpPr txBox="1"/>
          <p:nvPr/>
        </p:nvSpPr>
        <p:spPr>
          <a:xfrm>
            <a:off x="1028700" y="1724521"/>
            <a:ext cx="16230600" cy="7817266"/>
          </a:xfrm>
          <a:prstGeom prst="rect">
            <a:avLst/>
          </a:prstGeom>
        </p:spPr>
        <p:txBody>
          <a:bodyPr lIns="0" tIns="0" rIns="0" bIns="0" rtlCol="0" anchor="t">
            <a:spAutoFit/>
          </a:bodyPr>
          <a:lstStyle/>
          <a:p>
            <a:pPr marL="793973" lvl="1" indent="-396987" algn="l">
              <a:lnSpc>
                <a:spcPts val="5148"/>
              </a:lnSpc>
              <a:buFont typeface="Arial"/>
              <a:buChar char="•"/>
            </a:pPr>
            <a:r>
              <a:rPr lang="en-US" sz="3677" dirty="0">
                <a:solidFill>
                  <a:srgbClr val="153969"/>
                </a:solidFill>
                <a:latin typeface="Helios"/>
                <a:ea typeface="Helios"/>
                <a:cs typeface="Helios"/>
                <a:sym typeface="Helios"/>
              </a:rPr>
              <a:t>Arvind et al. - Introduc</a:t>
            </a:r>
            <a:r>
              <a:rPr lang="en-US" sz="3677" u="none" dirty="0">
                <a:solidFill>
                  <a:srgbClr val="153969"/>
                </a:solidFill>
                <a:latin typeface="Helios"/>
                <a:ea typeface="Helios"/>
                <a:cs typeface="Helios"/>
                <a:sym typeface="Helios"/>
              </a:rPr>
              <a:t>ed network traffic virtualization; focused on integrating Wireshark with Google Maps for user-friendly monitoring.</a:t>
            </a:r>
          </a:p>
          <a:p>
            <a:pPr marL="793973" lvl="1" indent="-396987" algn="l">
              <a:lnSpc>
                <a:spcPts val="5148"/>
              </a:lnSpc>
              <a:buFont typeface="Arial"/>
              <a:buChar char="•"/>
            </a:pPr>
            <a:r>
              <a:rPr lang="en-US" sz="3677" u="none" dirty="0" err="1">
                <a:solidFill>
                  <a:srgbClr val="153969"/>
                </a:solidFill>
                <a:latin typeface="Helios"/>
                <a:ea typeface="Helios"/>
                <a:cs typeface="Helios"/>
                <a:sym typeface="Helios"/>
              </a:rPr>
              <a:t>Gingade</a:t>
            </a:r>
            <a:r>
              <a:rPr lang="en-US" sz="3677" u="none" dirty="0">
                <a:solidFill>
                  <a:srgbClr val="153969"/>
                </a:solidFill>
                <a:latin typeface="Helios"/>
                <a:ea typeface="Helios"/>
                <a:cs typeface="Helios"/>
                <a:sym typeface="Helios"/>
              </a:rPr>
              <a:t> et al. (2023) - Enhanced real-time visualization for IoT networks, highlighting scalability to enterprise settings.</a:t>
            </a:r>
          </a:p>
          <a:p>
            <a:pPr marL="793973" lvl="1" indent="-396987" algn="l">
              <a:lnSpc>
                <a:spcPts val="5148"/>
              </a:lnSpc>
              <a:buFont typeface="Arial"/>
              <a:buChar char="•"/>
            </a:pPr>
            <a:r>
              <a:rPr lang="en-US" sz="3677" u="none" dirty="0">
                <a:solidFill>
                  <a:srgbClr val="153969"/>
                </a:solidFill>
                <a:latin typeface="Helios"/>
                <a:ea typeface="Helios"/>
                <a:cs typeface="Helios"/>
                <a:sym typeface="Helios"/>
              </a:rPr>
              <a:t>Upadhyay et al. - Conducted protocol-specific deep dive (SMTP, IMAP, POP3); exposed vulnerabilities in email systems.</a:t>
            </a:r>
          </a:p>
          <a:p>
            <a:pPr marL="793973" lvl="1" indent="-396987" algn="l">
              <a:lnSpc>
                <a:spcPts val="5148"/>
              </a:lnSpc>
              <a:buFont typeface="Arial"/>
              <a:buChar char="•"/>
            </a:pPr>
            <a:r>
              <a:rPr lang="en-US" sz="3677" u="none" dirty="0">
                <a:solidFill>
                  <a:srgbClr val="153969"/>
                </a:solidFill>
                <a:latin typeface="Helios"/>
                <a:ea typeface="Helios"/>
                <a:cs typeface="Helios"/>
                <a:sym typeface="Helios"/>
              </a:rPr>
              <a:t>Streeter - Practical reference for packet capture troubleshooting, bridging academic research and system admin needs.</a:t>
            </a:r>
          </a:p>
          <a:p>
            <a:pPr marL="793973" lvl="1" indent="-396987" algn="l">
              <a:lnSpc>
                <a:spcPts val="5148"/>
              </a:lnSpc>
              <a:buFont typeface="Arial"/>
              <a:buChar char="•"/>
            </a:pPr>
            <a:r>
              <a:rPr lang="en-US" sz="3677" u="none" dirty="0">
                <a:solidFill>
                  <a:srgbClr val="153969"/>
                </a:solidFill>
                <a:latin typeface="Helios"/>
                <a:ea typeface="Helios"/>
                <a:cs typeface="Helios"/>
                <a:sym typeface="Helios"/>
              </a:rPr>
              <a:t>Tan et al. (2019) - Developed delay models for high-speed networks; provided theoretical foundation for latency-sensitive applications (5G, cloud).</a:t>
            </a:r>
          </a:p>
          <a:p>
            <a:pPr marL="0" lvl="0" indent="0" algn="l">
              <a:lnSpc>
                <a:spcPts val="5148"/>
              </a:lnSpc>
              <a:spcBef>
                <a:spcPct val="0"/>
              </a:spcBef>
            </a:pPr>
            <a:endParaRPr lang="en-US" sz="3677" u="none" dirty="0">
              <a:solidFill>
                <a:srgbClr val="153969"/>
              </a:solidFill>
              <a:latin typeface="Helios"/>
              <a:ea typeface="Helios"/>
              <a:cs typeface="Helios"/>
              <a:sym typeface="Helios"/>
            </a:endParaRPr>
          </a:p>
        </p:txBody>
      </p:sp>
      <p:grpSp>
        <p:nvGrpSpPr>
          <p:cNvPr id="6" name="Group 6"/>
          <p:cNvGrpSpPr/>
          <p:nvPr/>
        </p:nvGrpSpPr>
        <p:grpSpPr>
          <a:xfrm>
            <a:off x="303050" y="361185"/>
            <a:ext cx="11344773" cy="1789453"/>
            <a:chOff x="0" y="0"/>
            <a:chExt cx="15126364" cy="2385937"/>
          </a:xfrm>
        </p:grpSpPr>
        <p:sp>
          <p:nvSpPr>
            <p:cNvPr id="7" name="TextBox 7"/>
            <p:cNvSpPr txBox="1"/>
            <p:nvPr/>
          </p:nvSpPr>
          <p:spPr>
            <a:xfrm>
              <a:off x="0" y="-76200"/>
              <a:ext cx="15126364" cy="1494367"/>
            </a:xfrm>
            <a:prstGeom prst="rect">
              <a:avLst/>
            </a:prstGeom>
          </p:spPr>
          <p:txBody>
            <a:bodyPr lIns="0" tIns="0" rIns="0" bIns="0" rtlCol="0" anchor="t">
              <a:spAutoFit/>
            </a:bodyPr>
            <a:lstStyle/>
            <a:p>
              <a:pPr algn="l">
                <a:lnSpc>
                  <a:spcPts val="9099"/>
                </a:lnSpc>
              </a:pPr>
              <a:r>
                <a:rPr lang="en-US" sz="6999" b="1">
                  <a:solidFill>
                    <a:srgbClr val="153969"/>
                  </a:solidFill>
                  <a:latin typeface="Klein Bold"/>
                  <a:ea typeface="Klein Bold"/>
                  <a:cs typeface="Klein Bold"/>
                  <a:sym typeface="Klein Bold"/>
                </a:rPr>
                <a:t>Literature Review </a:t>
              </a:r>
            </a:p>
          </p:txBody>
        </p:sp>
        <p:sp>
          <p:nvSpPr>
            <p:cNvPr id="8" name="TextBox 8"/>
            <p:cNvSpPr txBox="1"/>
            <p:nvPr/>
          </p:nvSpPr>
          <p:spPr>
            <a:xfrm>
              <a:off x="0" y="1678335"/>
              <a:ext cx="13656392" cy="707602"/>
            </a:xfrm>
            <a:prstGeom prst="rect">
              <a:avLst/>
            </a:prstGeom>
          </p:spPr>
          <p:txBody>
            <a:bodyPr lIns="0" tIns="0" rIns="0" bIns="0" rtlCol="0" anchor="t">
              <a:spAutoFit/>
            </a:bodyPr>
            <a:lstStyle/>
            <a:p>
              <a:pPr algn="l">
                <a:lnSpc>
                  <a:spcPts val="4479"/>
                </a:lnSpc>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0" y="-8868"/>
            <a:ext cx="9144000" cy="10295868"/>
            <a:chOff x="0" y="0"/>
            <a:chExt cx="2408296" cy="2711669"/>
          </a:xfrm>
        </p:grpSpPr>
        <p:sp>
          <p:nvSpPr>
            <p:cNvPr id="3" name="Freeform 3"/>
            <p:cNvSpPr/>
            <p:nvPr/>
          </p:nvSpPr>
          <p:spPr>
            <a:xfrm>
              <a:off x="0" y="0"/>
              <a:ext cx="2408296" cy="2711669"/>
            </a:xfrm>
            <a:custGeom>
              <a:avLst/>
              <a:gdLst/>
              <a:ahLst/>
              <a:cxnLst/>
              <a:rect l="l" t="t" r="r" b="b"/>
              <a:pathLst>
                <a:path w="2408296" h="2711669">
                  <a:moveTo>
                    <a:pt x="0" y="0"/>
                  </a:moveTo>
                  <a:lnTo>
                    <a:pt x="2408296" y="0"/>
                  </a:lnTo>
                  <a:lnTo>
                    <a:pt x="2408296" y="2711669"/>
                  </a:lnTo>
                  <a:lnTo>
                    <a:pt x="0" y="2711669"/>
                  </a:lnTo>
                  <a:close/>
                </a:path>
              </a:pathLst>
            </a:custGeom>
            <a:solidFill>
              <a:srgbClr val="F4F4F4"/>
            </a:solidFill>
          </p:spPr>
        </p:sp>
        <p:sp>
          <p:nvSpPr>
            <p:cNvPr id="4" name="TextBox 4"/>
            <p:cNvSpPr txBox="1"/>
            <p:nvPr/>
          </p:nvSpPr>
          <p:spPr>
            <a:xfrm>
              <a:off x="0" y="-38100"/>
              <a:ext cx="2408296" cy="2749769"/>
            </a:xfrm>
            <a:prstGeom prst="rect">
              <a:avLst/>
            </a:prstGeom>
          </p:spPr>
          <p:txBody>
            <a:bodyPr lIns="50800" tIns="50800" rIns="50800" bIns="50800" rtlCol="0" anchor="ctr"/>
            <a:lstStyle/>
            <a:p>
              <a:pPr algn="ctr">
                <a:lnSpc>
                  <a:spcPts val="2100"/>
                </a:lnSpc>
              </a:pPr>
              <a:endParaRPr/>
            </a:p>
          </p:txBody>
        </p:sp>
      </p:grpSp>
      <p:sp>
        <p:nvSpPr>
          <p:cNvPr id="5" name="TextBox 5"/>
          <p:cNvSpPr txBox="1"/>
          <p:nvPr/>
        </p:nvSpPr>
        <p:spPr>
          <a:xfrm>
            <a:off x="558700" y="1333442"/>
            <a:ext cx="17329788" cy="9056130"/>
          </a:xfrm>
          <a:prstGeom prst="rect">
            <a:avLst/>
          </a:prstGeom>
        </p:spPr>
        <p:txBody>
          <a:bodyPr lIns="0" tIns="0" rIns="0" bIns="0" rtlCol="0" anchor="t">
            <a:spAutoFit/>
          </a:bodyPr>
          <a:lstStyle/>
          <a:p>
            <a:pPr marL="0" lvl="0" indent="0" algn="l">
              <a:lnSpc>
                <a:spcPts val="3406"/>
              </a:lnSpc>
              <a:spcBef>
                <a:spcPct val="0"/>
              </a:spcBef>
            </a:pPr>
            <a:r>
              <a:rPr lang="en-US" sz="2433" u="none" strike="noStrike" dirty="0">
                <a:solidFill>
                  <a:srgbClr val="153969"/>
                </a:solidFill>
                <a:latin typeface="Helios"/>
                <a:ea typeface="Helios"/>
                <a:cs typeface="Helios"/>
                <a:sym typeface="Helios"/>
              </a:rPr>
              <a:t>Sudha Arvind, S. Arvind, Vamshi Kumar Silveri, Govardhan </a:t>
            </a:r>
            <a:r>
              <a:rPr lang="en-US" sz="2433" u="none" strike="noStrike" dirty="0" err="1">
                <a:solidFill>
                  <a:srgbClr val="153969"/>
                </a:solidFill>
                <a:latin typeface="Helios"/>
                <a:ea typeface="Helios"/>
                <a:cs typeface="Helios"/>
                <a:sym typeface="Helios"/>
              </a:rPr>
              <a:t>Potey</a:t>
            </a:r>
            <a:r>
              <a:rPr lang="en-US" sz="2433" u="none" strike="noStrike" dirty="0">
                <a:solidFill>
                  <a:srgbClr val="153969"/>
                </a:solidFill>
                <a:latin typeface="Helios"/>
                <a:ea typeface="Helios"/>
                <a:cs typeface="Helios"/>
                <a:sym typeface="Helios"/>
              </a:rPr>
              <a:t>, Parameshwar </a:t>
            </a:r>
            <a:r>
              <a:rPr lang="en-US" sz="2433" u="none" strike="noStrike" dirty="0" err="1">
                <a:solidFill>
                  <a:srgbClr val="153969"/>
                </a:solidFill>
                <a:latin typeface="Helios"/>
                <a:ea typeface="Helios"/>
                <a:cs typeface="Helios"/>
                <a:sym typeface="Helios"/>
              </a:rPr>
              <a:t>Nunavath</a:t>
            </a:r>
            <a:r>
              <a:rPr lang="en-US" sz="2433" u="none" strike="noStrike" dirty="0">
                <a:solidFill>
                  <a:srgbClr val="153969"/>
                </a:solidFill>
                <a:latin typeface="Helios"/>
                <a:ea typeface="Helios"/>
                <a:cs typeface="Helios"/>
                <a:sym typeface="Helios"/>
              </a:rPr>
              <a:t>, </a:t>
            </a:r>
            <a:r>
              <a:rPr lang="en-US" sz="2433" u="none" strike="noStrike" dirty="0" err="1">
                <a:solidFill>
                  <a:srgbClr val="153969"/>
                </a:solidFill>
                <a:latin typeface="Helios"/>
                <a:ea typeface="Helios"/>
                <a:cs typeface="Helios"/>
                <a:sym typeface="Helios"/>
              </a:rPr>
              <a:t>Ranadheep</a:t>
            </a:r>
            <a:r>
              <a:rPr lang="en-US" sz="2433" u="none" strike="noStrike" dirty="0">
                <a:solidFill>
                  <a:srgbClr val="153969"/>
                </a:solidFill>
                <a:latin typeface="Helios"/>
                <a:ea typeface="Helios"/>
                <a:cs typeface="Helios"/>
                <a:sym typeface="Helios"/>
              </a:rPr>
              <a:t> </a:t>
            </a:r>
            <a:r>
              <a:rPr lang="en-US" sz="2433" u="none" strike="noStrike" dirty="0" err="1">
                <a:solidFill>
                  <a:srgbClr val="153969"/>
                </a:solidFill>
                <a:latin typeface="Helios"/>
                <a:ea typeface="Helios"/>
                <a:cs typeface="Helios"/>
                <a:sym typeface="Helios"/>
              </a:rPr>
              <a:t>Podishetty</a:t>
            </a:r>
            <a:endParaRPr lang="en-US" sz="2433" u="none" strike="noStrike" dirty="0">
              <a:solidFill>
                <a:srgbClr val="153969"/>
              </a:solidFill>
              <a:latin typeface="Helios"/>
              <a:ea typeface="Helios"/>
              <a:cs typeface="Helios"/>
              <a:sym typeface="Helios"/>
            </a:endParaRPr>
          </a:p>
          <a:p>
            <a:pPr marL="0" lvl="0" indent="0" algn="l">
              <a:lnSpc>
                <a:spcPts val="3406"/>
              </a:lnSpc>
              <a:spcBef>
                <a:spcPct val="0"/>
              </a:spcBef>
            </a:pPr>
            <a:r>
              <a:rPr lang="en-US" sz="2433" u="none" strike="noStrike" dirty="0">
                <a:solidFill>
                  <a:srgbClr val="153969"/>
                </a:solidFill>
                <a:latin typeface="Helios"/>
                <a:ea typeface="Helios"/>
                <a:cs typeface="Helios"/>
                <a:sym typeface="Helios"/>
              </a:rPr>
              <a:t> “Network Traffic Virtualization Using Wireshark and Google Maps”</a:t>
            </a:r>
          </a:p>
          <a:p>
            <a:pPr marL="0" lvl="0" indent="0" algn="l">
              <a:lnSpc>
                <a:spcPts val="3406"/>
              </a:lnSpc>
              <a:spcBef>
                <a:spcPct val="0"/>
              </a:spcBef>
            </a:pPr>
            <a:r>
              <a:rPr lang="en-US" sz="2433" u="none" strike="noStrike" dirty="0">
                <a:solidFill>
                  <a:srgbClr val="153969"/>
                </a:solidFill>
                <a:latin typeface="Helios"/>
                <a:ea typeface="Helios"/>
                <a:cs typeface="Helios"/>
                <a:sym typeface="Helios"/>
              </a:rPr>
              <a:t>Topic: Network Traffic Visualization</a:t>
            </a:r>
          </a:p>
          <a:p>
            <a:pPr marL="0" lvl="0" indent="0" algn="l">
              <a:lnSpc>
                <a:spcPts val="3406"/>
              </a:lnSpc>
              <a:spcBef>
                <a:spcPct val="0"/>
              </a:spcBef>
            </a:pPr>
            <a:endParaRPr lang="en-US" sz="2433" u="none" strike="noStrike" dirty="0">
              <a:solidFill>
                <a:srgbClr val="153969"/>
              </a:solidFill>
              <a:latin typeface="Helios"/>
              <a:ea typeface="Helios"/>
              <a:cs typeface="Helios"/>
              <a:sym typeface="Helios"/>
            </a:endParaRPr>
          </a:p>
          <a:p>
            <a:pPr marL="0" lvl="0" indent="0" algn="l">
              <a:lnSpc>
                <a:spcPts val="3406"/>
              </a:lnSpc>
              <a:spcBef>
                <a:spcPct val="0"/>
              </a:spcBef>
            </a:pPr>
            <a:endParaRPr lang="en-US" sz="2433" u="none" strike="noStrike" dirty="0">
              <a:solidFill>
                <a:srgbClr val="153969"/>
              </a:solidFill>
              <a:latin typeface="Helios"/>
              <a:ea typeface="Helios"/>
              <a:cs typeface="Helios"/>
              <a:sym typeface="Helios"/>
            </a:endParaRPr>
          </a:p>
          <a:p>
            <a:pPr marL="0" lvl="0" indent="0" algn="l">
              <a:lnSpc>
                <a:spcPts val="3406"/>
              </a:lnSpc>
              <a:spcBef>
                <a:spcPct val="0"/>
              </a:spcBef>
            </a:pPr>
            <a:r>
              <a:rPr lang="en-US" sz="2433" u="none" strike="noStrike" dirty="0">
                <a:solidFill>
                  <a:srgbClr val="153969"/>
                </a:solidFill>
                <a:latin typeface="Helios"/>
                <a:ea typeface="Helios"/>
                <a:cs typeface="Helios"/>
                <a:sym typeface="Helios"/>
              </a:rPr>
              <a:t>Swara S. </a:t>
            </a:r>
            <a:r>
              <a:rPr lang="en-US" sz="2433" u="none" strike="noStrike" dirty="0" err="1">
                <a:solidFill>
                  <a:srgbClr val="153969"/>
                </a:solidFill>
                <a:latin typeface="Helios"/>
                <a:ea typeface="Helios"/>
                <a:cs typeface="Helios"/>
                <a:sym typeface="Helios"/>
              </a:rPr>
              <a:t>Gingade</a:t>
            </a:r>
            <a:r>
              <a:rPr lang="en-US" sz="2433" u="none" strike="noStrike" dirty="0">
                <a:solidFill>
                  <a:srgbClr val="153969"/>
                </a:solidFill>
                <a:latin typeface="Helios"/>
                <a:ea typeface="Helios"/>
                <a:cs typeface="Helios"/>
                <a:sym typeface="Helios"/>
              </a:rPr>
              <a:t>, Nagashree B., Rishika Mohan V., Mohana</a:t>
            </a:r>
          </a:p>
          <a:p>
            <a:pPr marL="0" lvl="0" indent="0" algn="l">
              <a:lnSpc>
                <a:spcPts val="3406"/>
              </a:lnSpc>
              <a:spcBef>
                <a:spcPct val="0"/>
              </a:spcBef>
            </a:pPr>
            <a:r>
              <a:rPr lang="en-US" sz="2433" u="none" strike="noStrike" dirty="0">
                <a:solidFill>
                  <a:srgbClr val="153969"/>
                </a:solidFill>
                <a:latin typeface="Helios"/>
                <a:ea typeface="Helios"/>
                <a:cs typeface="Helios"/>
                <a:sym typeface="Helios"/>
              </a:rPr>
              <a:t> “Real-Time Network Traffic Analysis and Visualization using Wireshark and Google Maps” (ICIMIA 2023)</a:t>
            </a:r>
          </a:p>
          <a:p>
            <a:pPr marL="0" lvl="0" indent="0" algn="l">
              <a:lnSpc>
                <a:spcPts val="3406"/>
              </a:lnSpc>
              <a:spcBef>
                <a:spcPct val="0"/>
              </a:spcBef>
            </a:pPr>
            <a:r>
              <a:rPr lang="en-US" sz="2433" u="none" strike="noStrike" dirty="0">
                <a:solidFill>
                  <a:srgbClr val="153969"/>
                </a:solidFill>
                <a:latin typeface="Helios"/>
                <a:ea typeface="Helios"/>
                <a:cs typeface="Helios"/>
                <a:sym typeface="Helios"/>
              </a:rPr>
              <a:t>Topic: Real-Time Network Traffic Monitoring</a:t>
            </a:r>
          </a:p>
          <a:p>
            <a:pPr marL="0" lvl="0" indent="0" algn="l">
              <a:lnSpc>
                <a:spcPts val="3406"/>
              </a:lnSpc>
              <a:spcBef>
                <a:spcPct val="0"/>
              </a:spcBef>
            </a:pPr>
            <a:endParaRPr lang="en-US" sz="2433" u="none" strike="noStrike" dirty="0">
              <a:solidFill>
                <a:srgbClr val="153969"/>
              </a:solidFill>
              <a:latin typeface="Helios"/>
              <a:ea typeface="Helios"/>
              <a:cs typeface="Helios"/>
              <a:sym typeface="Helios"/>
            </a:endParaRPr>
          </a:p>
          <a:p>
            <a:pPr marL="0" lvl="0" indent="0" algn="l">
              <a:lnSpc>
                <a:spcPts val="3406"/>
              </a:lnSpc>
              <a:spcBef>
                <a:spcPct val="0"/>
              </a:spcBef>
            </a:pPr>
            <a:r>
              <a:rPr lang="en-US" sz="2433" u="none" strike="noStrike" dirty="0">
                <a:solidFill>
                  <a:srgbClr val="153969"/>
                </a:solidFill>
                <a:latin typeface="Helios"/>
                <a:ea typeface="Helios"/>
                <a:cs typeface="Helios"/>
                <a:sym typeface="Helios"/>
              </a:rPr>
              <a:t>Devendra Upadhyay, Vineet Bhatia, Sumati Sidharth</a:t>
            </a:r>
          </a:p>
          <a:p>
            <a:pPr marL="0" lvl="0" indent="0" algn="l">
              <a:lnSpc>
                <a:spcPts val="3406"/>
              </a:lnSpc>
              <a:spcBef>
                <a:spcPct val="0"/>
              </a:spcBef>
            </a:pPr>
            <a:r>
              <a:rPr lang="en-US" sz="2433" u="none" strike="noStrike" dirty="0">
                <a:solidFill>
                  <a:srgbClr val="153969"/>
                </a:solidFill>
                <a:latin typeface="Helios"/>
                <a:ea typeface="Helios"/>
                <a:cs typeface="Helios"/>
                <a:sym typeface="Helios"/>
              </a:rPr>
              <a:t> “An in-Depth Analysis of Email Protocols Traffic Using Wireshark”</a:t>
            </a:r>
          </a:p>
          <a:p>
            <a:pPr marL="0" lvl="0" indent="0" algn="l">
              <a:lnSpc>
                <a:spcPts val="3406"/>
              </a:lnSpc>
              <a:spcBef>
                <a:spcPct val="0"/>
              </a:spcBef>
            </a:pPr>
            <a:r>
              <a:rPr lang="en-US" sz="2433" u="none" strike="noStrike" dirty="0">
                <a:solidFill>
                  <a:srgbClr val="153969"/>
                </a:solidFill>
                <a:latin typeface="Helios"/>
                <a:ea typeface="Helios"/>
                <a:cs typeface="Helios"/>
                <a:sym typeface="Helios"/>
              </a:rPr>
              <a:t>Topic: Protocol-Specific Analysis (Email Protocols)</a:t>
            </a:r>
          </a:p>
          <a:p>
            <a:pPr marL="0" lvl="0" indent="0" algn="l">
              <a:lnSpc>
                <a:spcPts val="3406"/>
              </a:lnSpc>
              <a:spcBef>
                <a:spcPct val="0"/>
              </a:spcBef>
            </a:pPr>
            <a:endParaRPr lang="en-US" sz="2433" u="none" strike="noStrike" dirty="0">
              <a:solidFill>
                <a:srgbClr val="153969"/>
              </a:solidFill>
              <a:latin typeface="Helios"/>
              <a:ea typeface="Helios"/>
              <a:cs typeface="Helios"/>
              <a:sym typeface="Helios"/>
            </a:endParaRPr>
          </a:p>
          <a:p>
            <a:pPr marL="0" lvl="0" indent="0" algn="l">
              <a:lnSpc>
                <a:spcPts val="3406"/>
              </a:lnSpc>
              <a:spcBef>
                <a:spcPct val="0"/>
              </a:spcBef>
            </a:pPr>
            <a:r>
              <a:rPr lang="en-US" sz="2433" u="none" strike="noStrike" dirty="0">
                <a:solidFill>
                  <a:srgbClr val="153969"/>
                </a:solidFill>
                <a:latin typeface="Helios"/>
                <a:ea typeface="Helios"/>
                <a:cs typeface="Helios"/>
                <a:sym typeface="Helios"/>
              </a:rPr>
              <a:t>Adam Streeter</a:t>
            </a:r>
          </a:p>
          <a:p>
            <a:pPr marL="0" lvl="0" indent="0" algn="l">
              <a:lnSpc>
                <a:spcPts val="3406"/>
              </a:lnSpc>
              <a:spcBef>
                <a:spcPct val="0"/>
              </a:spcBef>
            </a:pPr>
            <a:r>
              <a:rPr lang="en-US" sz="2433" u="none" strike="noStrike" dirty="0">
                <a:solidFill>
                  <a:srgbClr val="153969"/>
                </a:solidFill>
                <a:latin typeface="Helios"/>
                <a:ea typeface="Helios"/>
                <a:cs typeface="Helios"/>
                <a:sym typeface="Helios"/>
              </a:rPr>
              <a:t> “Adam's Guide To Packet Capture Analysis Using Wireshark”</a:t>
            </a:r>
          </a:p>
          <a:p>
            <a:pPr marL="0" lvl="0" indent="0" algn="l">
              <a:lnSpc>
                <a:spcPts val="3406"/>
              </a:lnSpc>
              <a:spcBef>
                <a:spcPct val="0"/>
              </a:spcBef>
            </a:pPr>
            <a:r>
              <a:rPr lang="en-US" sz="2433" u="none" strike="noStrike" dirty="0">
                <a:solidFill>
                  <a:srgbClr val="153969"/>
                </a:solidFill>
                <a:latin typeface="Helios"/>
                <a:ea typeface="Helios"/>
                <a:cs typeface="Helios"/>
                <a:sym typeface="Helios"/>
              </a:rPr>
              <a:t>Topic: Practical Guide / Troubleshooting</a:t>
            </a:r>
          </a:p>
          <a:p>
            <a:pPr marL="0" lvl="0" indent="0" algn="l">
              <a:lnSpc>
                <a:spcPts val="3406"/>
              </a:lnSpc>
              <a:spcBef>
                <a:spcPct val="0"/>
              </a:spcBef>
            </a:pPr>
            <a:endParaRPr lang="en-US" sz="2433" u="none" strike="noStrike" dirty="0">
              <a:solidFill>
                <a:srgbClr val="153969"/>
              </a:solidFill>
              <a:latin typeface="Helios"/>
              <a:ea typeface="Helios"/>
              <a:cs typeface="Helios"/>
              <a:sym typeface="Helios"/>
            </a:endParaRPr>
          </a:p>
          <a:p>
            <a:pPr marL="0" lvl="0" indent="0" algn="l">
              <a:lnSpc>
                <a:spcPts val="3406"/>
              </a:lnSpc>
              <a:spcBef>
                <a:spcPct val="0"/>
              </a:spcBef>
            </a:pPr>
            <a:r>
              <a:rPr lang="en-US" sz="2433" u="none" strike="noStrike" dirty="0">
                <a:solidFill>
                  <a:srgbClr val="153969"/>
                </a:solidFill>
                <a:latin typeface="Helios"/>
                <a:ea typeface="Helios"/>
                <a:cs typeface="Helios"/>
                <a:sym typeface="Helios"/>
              </a:rPr>
              <a:t>W. Tan, Z. Zhao, R. </a:t>
            </a:r>
            <a:r>
              <a:rPr lang="en-US" sz="2433" u="none" strike="noStrike" dirty="0" err="1">
                <a:solidFill>
                  <a:srgbClr val="153969"/>
                </a:solidFill>
                <a:latin typeface="Helios"/>
                <a:ea typeface="Helios"/>
                <a:cs typeface="Helios"/>
                <a:sym typeface="Helios"/>
              </a:rPr>
              <a:t>Bettati</a:t>
            </a:r>
            <a:endParaRPr lang="en-US" sz="2433" u="none" strike="noStrike" dirty="0">
              <a:solidFill>
                <a:srgbClr val="153969"/>
              </a:solidFill>
              <a:latin typeface="Helios"/>
              <a:ea typeface="Helios"/>
              <a:cs typeface="Helios"/>
              <a:sym typeface="Helios"/>
            </a:endParaRPr>
          </a:p>
          <a:p>
            <a:pPr marL="0" lvl="0" indent="0" algn="l">
              <a:lnSpc>
                <a:spcPts val="3406"/>
              </a:lnSpc>
              <a:spcBef>
                <a:spcPct val="0"/>
              </a:spcBef>
            </a:pPr>
            <a:r>
              <a:rPr lang="en-US" sz="2433" u="none" strike="noStrike" dirty="0">
                <a:solidFill>
                  <a:srgbClr val="153969"/>
                </a:solidFill>
                <a:latin typeface="Helios"/>
                <a:ea typeface="Helios"/>
                <a:cs typeface="Helios"/>
                <a:sym typeface="Helios"/>
              </a:rPr>
              <a:t> “Transmission Delay Analysis in High-Speed Networks” (IEEE Transactions on Communications, 2019)</a:t>
            </a:r>
          </a:p>
          <a:p>
            <a:pPr marL="0" lvl="0" indent="0" algn="l">
              <a:lnSpc>
                <a:spcPts val="3406"/>
              </a:lnSpc>
              <a:spcBef>
                <a:spcPct val="0"/>
              </a:spcBef>
            </a:pPr>
            <a:r>
              <a:rPr lang="en-US" sz="2433" u="none" strike="noStrike" dirty="0">
                <a:solidFill>
                  <a:srgbClr val="153969"/>
                </a:solidFill>
                <a:latin typeface="Helios"/>
                <a:ea typeface="Helios"/>
                <a:cs typeface="Helios"/>
                <a:sym typeface="Helios"/>
              </a:rPr>
              <a:t>Topic: Delay Modeling in High-Speed Networks</a:t>
            </a:r>
          </a:p>
          <a:p>
            <a:pPr marL="0" lvl="0" indent="0" algn="l">
              <a:lnSpc>
                <a:spcPts val="3406"/>
              </a:lnSpc>
              <a:spcBef>
                <a:spcPct val="0"/>
              </a:spcBef>
            </a:pPr>
            <a:endParaRPr lang="en-US" sz="2433" u="none" strike="noStrike" dirty="0">
              <a:solidFill>
                <a:srgbClr val="153969"/>
              </a:solidFill>
              <a:latin typeface="Helios"/>
              <a:ea typeface="Helios"/>
              <a:cs typeface="Helios"/>
              <a:sym typeface="Helios"/>
            </a:endParaRPr>
          </a:p>
        </p:txBody>
      </p:sp>
      <p:grpSp>
        <p:nvGrpSpPr>
          <p:cNvPr id="6" name="Group 6"/>
          <p:cNvGrpSpPr/>
          <p:nvPr/>
        </p:nvGrpSpPr>
        <p:grpSpPr>
          <a:xfrm>
            <a:off x="303050" y="361185"/>
            <a:ext cx="15595008" cy="1789453"/>
            <a:chOff x="0" y="0"/>
            <a:chExt cx="20793344" cy="2385937"/>
          </a:xfrm>
        </p:grpSpPr>
        <p:sp>
          <p:nvSpPr>
            <p:cNvPr id="7" name="TextBox 7"/>
            <p:cNvSpPr txBox="1"/>
            <p:nvPr/>
          </p:nvSpPr>
          <p:spPr>
            <a:xfrm>
              <a:off x="0" y="-76200"/>
              <a:ext cx="20793344" cy="1494367"/>
            </a:xfrm>
            <a:prstGeom prst="rect">
              <a:avLst/>
            </a:prstGeom>
          </p:spPr>
          <p:txBody>
            <a:bodyPr lIns="0" tIns="0" rIns="0" bIns="0" rtlCol="0" anchor="t">
              <a:spAutoFit/>
            </a:bodyPr>
            <a:lstStyle/>
            <a:p>
              <a:pPr algn="l">
                <a:lnSpc>
                  <a:spcPts val="9099"/>
                </a:lnSpc>
              </a:pPr>
              <a:r>
                <a:rPr lang="en-US" sz="6999" b="1">
                  <a:solidFill>
                    <a:srgbClr val="153969"/>
                  </a:solidFill>
                  <a:latin typeface="Klein Bold"/>
                  <a:ea typeface="Klein Bold"/>
                  <a:cs typeface="Klein Bold"/>
                  <a:sym typeface="Klein Bold"/>
                </a:rPr>
                <a:t>What Has Been Achieved So Far</a:t>
              </a:r>
            </a:p>
          </p:txBody>
        </p:sp>
        <p:sp>
          <p:nvSpPr>
            <p:cNvPr id="8" name="TextBox 8"/>
            <p:cNvSpPr txBox="1"/>
            <p:nvPr/>
          </p:nvSpPr>
          <p:spPr>
            <a:xfrm>
              <a:off x="0" y="1678335"/>
              <a:ext cx="18772659" cy="707602"/>
            </a:xfrm>
            <a:prstGeom prst="rect">
              <a:avLst/>
            </a:prstGeom>
          </p:spPr>
          <p:txBody>
            <a:bodyPr lIns="0" tIns="0" rIns="0" bIns="0" rtlCol="0" anchor="t">
              <a:spAutoFit/>
            </a:bodyPr>
            <a:lstStyle/>
            <a:p>
              <a:pPr algn="l">
                <a:lnSpc>
                  <a:spcPts val="4479"/>
                </a:lnSpc>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0" y="-8868"/>
            <a:ext cx="9144000" cy="10295868"/>
            <a:chOff x="0" y="0"/>
            <a:chExt cx="2408296" cy="2711669"/>
          </a:xfrm>
        </p:grpSpPr>
        <p:sp>
          <p:nvSpPr>
            <p:cNvPr id="3" name="Freeform 3"/>
            <p:cNvSpPr/>
            <p:nvPr/>
          </p:nvSpPr>
          <p:spPr>
            <a:xfrm>
              <a:off x="0" y="0"/>
              <a:ext cx="2408296" cy="2711669"/>
            </a:xfrm>
            <a:custGeom>
              <a:avLst/>
              <a:gdLst/>
              <a:ahLst/>
              <a:cxnLst/>
              <a:rect l="l" t="t" r="r" b="b"/>
              <a:pathLst>
                <a:path w="2408296" h="2711669">
                  <a:moveTo>
                    <a:pt x="0" y="0"/>
                  </a:moveTo>
                  <a:lnTo>
                    <a:pt x="2408296" y="0"/>
                  </a:lnTo>
                  <a:lnTo>
                    <a:pt x="2408296" y="2711669"/>
                  </a:lnTo>
                  <a:lnTo>
                    <a:pt x="0" y="2711669"/>
                  </a:lnTo>
                  <a:close/>
                </a:path>
              </a:pathLst>
            </a:custGeom>
            <a:solidFill>
              <a:srgbClr val="F4F4F4"/>
            </a:solidFill>
          </p:spPr>
        </p:sp>
        <p:sp>
          <p:nvSpPr>
            <p:cNvPr id="4" name="TextBox 4"/>
            <p:cNvSpPr txBox="1"/>
            <p:nvPr/>
          </p:nvSpPr>
          <p:spPr>
            <a:xfrm>
              <a:off x="0" y="-38100"/>
              <a:ext cx="2408296" cy="2749769"/>
            </a:xfrm>
            <a:prstGeom prst="rect">
              <a:avLst/>
            </a:prstGeom>
          </p:spPr>
          <p:txBody>
            <a:bodyPr lIns="50800" tIns="50800" rIns="50800" bIns="50800" rtlCol="0" anchor="ctr"/>
            <a:lstStyle/>
            <a:p>
              <a:pPr algn="ctr">
                <a:lnSpc>
                  <a:spcPts val="2100"/>
                </a:lnSpc>
              </a:pPr>
              <a:endParaRPr/>
            </a:p>
          </p:txBody>
        </p:sp>
      </p:grpSp>
      <p:sp>
        <p:nvSpPr>
          <p:cNvPr id="5" name="TextBox 5"/>
          <p:cNvSpPr txBox="1"/>
          <p:nvPr/>
        </p:nvSpPr>
        <p:spPr>
          <a:xfrm>
            <a:off x="665875" y="1886354"/>
            <a:ext cx="16230600" cy="3252712"/>
          </a:xfrm>
          <a:prstGeom prst="rect">
            <a:avLst/>
          </a:prstGeom>
        </p:spPr>
        <p:txBody>
          <a:bodyPr lIns="0" tIns="0" rIns="0" bIns="0" rtlCol="0" anchor="t">
            <a:spAutoFit/>
          </a:bodyPr>
          <a:lstStyle/>
          <a:p>
            <a:pPr algn="l">
              <a:lnSpc>
                <a:spcPts val="5148"/>
              </a:lnSpc>
            </a:pPr>
            <a:r>
              <a:rPr lang="en-US" sz="3677" dirty="0">
                <a:solidFill>
                  <a:srgbClr val="153969"/>
                </a:solidFill>
                <a:latin typeface="Helios"/>
                <a:ea typeface="Helios"/>
                <a:cs typeface="Helios"/>
                <a:sym typeface="Helios"/>
              </a:rPr>
              <a:t>Scal</a:t>
            </a:r>
            <a:r>
              <a:rPr lang="en-US" sz="3677" u="none" dirty="0">
                <a:solidFill>
                  <a:srgbClr val="153969"/>
                </a:solidFill>
                <a:latin typeface="Helios"/>
                <a:ea typeface="Helios"/>
                <a:cs typeface="Helios"/>
                <a:sym typeface="Helios"/>
              </a:rPr>
              <a:t>ability Limitations</a:t>
            </a:r>
          </a:p>
          <a:p>
            <a:pPr marL="793973" lvl="1" indent="-396987" algn="l">
              <a:lnSpc>
                <a:spcPts val="5148"/>
              </a:lnSpc>
              <a:buFont typeface="Arial"/>
              <a:buChar char="•"/>
            </a:pPr>
            <a:r>
              <a:rPr lang="en-US" sz="3677" u="none" dirty="0">
                <a:solidFill>
                  <a:srgbClr val="153969"/>
                </a:solidFill>
                <a:latin typeface="Helios"/>
                <a:ea typeface="Helios"/>
                <a:cs typeface="Helios"/>
                <a:sym typeface="Helios"/>
              </a:rPr>
              <a:t> Most existing works (Arvind et al., </a:t>
            </a:r>
            <a:r>
              <a:rPr lang="en-US" sz="3677" u="none" dirty="0" err="1">
                <a:solidFill>
                  <a:srgbClr val="153969"/>
                </a:solidFill>
                <a:latin typeface="Helios"/>
                <a:ea typeface="Helios"/>
                <a:cs typeface="Helios"/>
                <a:sym typeface="Helios"/>
              </a:rPr>
              <a:t>Gingade</a:t>
            </a:r>
            <a:r>
              <a:rPr lang="en-US" sz="3677" u="none" dirty="0">
                <a:solidFill>
                  <a:srgbClr val="153969"/>
                </a:solidFill>
                <a:latin typeface="Helios"/>
                <a:ea typeface="Helios"/>
                <a:cs typeface="Helios"/>
                <a:sym typeface="Helios"/>
              </a:rPr>
              <a:t> et al.) tested on small-to-medium datasets.</a:t>
            </a:r>
          </a:p>
          <a:p>
            <a:pPr marL="793973" lvl="1" indent="-396987" algn="l">
              <a:lnSpc>
                <a:spcPts val="5148"/>
              </a:lnSpc>
              <a:buFont typeface="Arial"/>
              <a:buChar char="•"/>
            </a:pPr>
            <a:r>
              <a:rPr lang="en-US" sz="3677" u="none" dirty="0">
                <a:solidFill>
                  <a:srgbClr val="153969"/>
                </a:solidFill>
                <a:latin typeface="Helios"/>
                <a:ea typeface="Helios"/>
                <a:cs typeface="Helios"/>
                <a:sym typeface="Helios"/>
              </a:rPr>
              <a:t> No validation on ISP-scale traffic or cloud-scale distributed systems.</a:t>
            </a:r>
          </a:p>
          <a:p>
            <a:pPr marL="0" lvl="0" indent="0" algn="l">
              <a:lnSpc>
                <a:spcPts val="5148"/>
              </a:lnSpc>
              <a:spcBef>
                <a:spcPct val="0"/>
              </a:spcBef>
            </a:pPr>
            <a:endParaRPr lang="en-US" sz="3677" u="none" dirty="0">
              <a:solidFill>
                <a:srgbClr val="153969"/>
              </a:solidFill>
              <a:latin typeface="Helios"/>
              <a:ea typeface="Helios"/>
              <a:cs typeface="Helios"/>
              <a:sym typeface="Helios"/>
            </a:endParaRPr>
          </a:p>
        </p:txBody>
      </p:sp>
      <p:grpSp>
        <p:nvGrpSpPr>
          <p:cNvPr id="6" name="Group 6"/>
          <p:cNvGrpSpPr/>
          <p:nvPr/>
        </p:nvGrpSpPr>
        <p:grpSpPr>
          <a:xfrm>
            <a:off x="303050" y="361185"/>
            <a:ext cx="15180351" cy="1789453"/>
            <a:chOff x="0" y="0"/>
            <a:chExt cx="20240468" cy="2385937"/>
          </a:xfrm>
        </p:grpSpPr>
        <p:sp>
          <p:nvSpPr>
            <p:cNvPr id="7" name="TextBox 7"/>
            <p:cNvSpPr txBox="1"/>
            <p:nvPr/>
          </p:nvSpPr>
          <p:spPr>
            <a:xfrm>
              <a:off x="0" y="-76200"/>
              <a:ext cx="20240468" cy="1494367"/>
            </a:xfrm>
            <a:prstGeom prst="rect">
              <a:avLst/>
            </a:prstGeom>
          </p:spPr>
          <p:txBody>
            <a:bodyPr lIns="0" tIns="0" rIns="0" bIns="0" rtlCol="0" anchor="t">
              <a:spAutoFit/>
            </a:bodyPr>
            <a:lstStyle/>
            <a:p>
              <a:pPr algn="l">
                <a:lnSpc>
                  <a:spcPts val="9099"/>
                </a:lnSpc>
              </a:pPr>
              <a:r>
                <a:rPr lang="en-US" sz="6999" b="1">
                  <a:solidFill>
                    <a:srgbClr val="153969"/>
                  </a:solidFill>
                  <a:latin typeface="Klein Bold"/>
                  <a:ea typeface="Klein Bold"/>
                  <a:cs typeface="Klein Bold"/>
                  <a:sym typeface="Klein Bold"/>
                </a:rPr>
                <a:t>Gaps &amp; Research Opportunities</a:t>
              </a:r>
            </a:p>
          </p:txBody>
        </p:sp>
        <p:sp>
          <p:nvSpPr>
            <p:cNvPr id="8" name="TextBox 8"/>
            <p:cNvSpPr txBox="1"/>
            <p:nvPr/>
          </p:nvSpPr>
          <p:spPr>
            <a:xfrm>
              <a:off x="0" y="1678335"/>
              <a:ext cx="18273511" cy="707602"/>
            </a:xfrm>
            <a:prstGeom prst="rect">
              <a:avLst/>
            </a:prstGeom>
          </p:spPr>
          <p:txBody>
            <a:bodyPr lIns="0" tIns="0" rIns="0" bIns="0" rtlCol="0" anchor="t">
              <a:spAutoFit/>
            </a:bodyPr>
            <a:lstStyle/>
            <a:p>
              <a:pPr algn="l">
                <a:lnSpc>
                  <a:spcPts val="4479"/>
                </a:lnSpc>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991600" y="-6362700"/>
            <a:ext cx="16974382" cy="16974382"/>
          </a:xfrm>
          <a:custGeom>
            <a:avLst/>
            <a:gdLst/>
            <a:ahLst/>
            <a:cxnLst/>
            <a:rect l="l" t="t" r="r" b="b"/>
            <a:pathLst>
              <a:path w="16974382" h="16974382">
                <a:moveTo>
                  <a:pt x="0" y="0"/>
                </a:moveTo>
                <a:lnTo>
                  <a:pt x="16974382" y="0"/>
                </a:lnTo>
                <a:lnTo>
                  <a:pt x="16974382" y="16974382"/>
                </a:lnTo>
                <a:lnTo>
                  <a:pt x="0" y="1697438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3" name="Group 3"/>
          <p:cNvGrpSpPr/>
          <p:nvPr/>
        </p:nvGrpSpPr>
        <p:grpSpPr>
          <a:xfrm>
            <a:off x="452545" y="1465004"/>
            <a:ext cx="6278177" cy="3678496"/>
            <a:chOff x="0" y="0"/>
            <a:chExt cx="8370902" cy="4904661"/>
          </a:xfrm>
        </p:grpSpPr>
        <p:sp>
          <p:nvSpPr>
            <p:cNvPr id="4" name="TextBox 4"/>
            <p:cNvSpPr txBox="1"/>
            <p:nvPr/>
          </p:nvSpPr>
          <p:spPr>
            <a:xfrm>
              <a:off x="0" y="-76200"/>
              <a:ext cx="8370902" cy="3031067"/>
            </a:xfrm>
            <a:prstGeom prst="rect">
              <a:avLst/>
            </a:prstGeom>
          </p:spPr>
          <p:txBody>
            <a:bodyPr lIns="0" tIns="0" rIns="0" bIns="0" rtlCol="0" anchor="t">
              <a:spAutoFit/>
            </a:bodyPr>
            <a:lstStyle/>
            <a:p>
              <a:pPr algn="l">
                <a:lnSpc>
                  <a:spcPts val="9099"/>
                </a:lnSpc>
              </a:pPr>
              <a:r>
                <a:rPr lang="en-US" sz="6999" b="1">
                  <a:solidFill>
                    <a:srgbClr val="FFFFFF"/>
                  </a:solidFill>
                  <a:latin typeface="Klein Bold"/>
                  <a:ea typeface="Klein Bold"/>
                  <a:cs typeface="Klein Bold"/>
                  <a:sym typeface="Klein Bold"/>
                </a:rPr>
                <a:t>Scope Of Work</a:t>
              </a:r>
            </a:p>
          </p:txBody>
        </p:sp>
        <p:sp>
          <p:nvSpPr>
            <p:cNvPr id="5" name="TextBox 5"/>
            <p:cNvSpPr txBox="1"/>
            <p:nvPr/>
          </p:nvSpPr>
          <p:spPr>
            <a:xfrm>
              <a:off x="0" y="3447760"/>
              <a:ext cx="6930758" cy="1456902"/>
            </a:xfrm>
            <a:prstGeom prst="rect">
              <a:avLst/>
            </a:prstGeom>
          </p:spPr>
          <p:txBody>
            <a:bodyPr lIns="0" tIns="0" rIns="0" bIns="0" rtlCol="0" anchor="t">
              <a:spAutoFit/>
            </a:bodyPr>
            <a:lstStyle/>
            <a:p>
              <a:pPr algn="l">
                <a:lnSpc>
                  <a:spcPts val="4479"/>
                </a:lnSpc>
              </a:pPr>
              <a:r>
                <a:rPr lang="en-US" sz="3199">
                  <a:solidFill>
                    <a:srgbClr val="FFFFFF"/>
                  </a:solidFill>
                  <a:latin typeface="Helios"/>
                  <a:ea typeface="Helios"/>
                  <a:cs typeface="Helios"/>
                  <a:sym typeface="Helios"/>
                </a:rPr>
                <a:t>Our Expected Result and  Limitations</a:t>
              </a:r>
            </a:p>
          </p:txBody>
        </p:sp>
      </p:grpSp>
      <p:sp>
        <p:nvSpPr>
          <p:cNvPr id="6" name="TextBox 6"/>
          <p:cNvSpPr txBox="1"/>
          <p:nvPr/>
        </p:nvSpPr>
        <p:spPr>
          <a:xfrm>
            <a:off x="5975162" y="577909"/>
            <a:ext cx="7259034" cy="887095"/>
          </a:xfrm>
          <a:prstGeom prst="rect">
            <a:avLst/>
          </a:prstGeom>
        </p:spPr>
        <p:txBody>
          <a:bodyPr wrap="square" lIns="0" tIns="0" rIns="0" bIns="0" rtlCol="0" anchor="t">
            <a:spAutoFit/>
          </a:bodyPr>
          <a:lstStyle/>
          <a:p>
            <a:pPr algn="ctr">
              <a:lnSpc>
                <a:spcPts val="7279"/>
              </a:lnSpc>
            </a:pPr>
            <a:r>
              <a:rPr lang="en-US" sz="5199" b="1" dirty="0">
                <a:solidFill>
                  <a:srgbClr val="FFFFFF"/>
                </a:solidFill>
                <a:latin typeface="Canva Sans Bold"/>
                <a:ea typeface="Canva Sans Bold"/>
                <a:cs typeface="Canva Sans Bold"/>
                <a:sym typeface="Canva Sans Bold"/>
              </a:rPr>
              <a:t>Exp</a:t>
            </a:r>
            <a:r>
              <a:rPr lang="en-US" sz="5199" b="1" dirty="0">
                <a:solidFill>
                  <a:srgbClr val="153969"/>
                </a:solidFill>
                <a:latin typeface="Canva Sans Bold"/>
                <a:ea typeface="Canva Sans Bold"/>
                <a:cs typeface="Canva Sans Bold"/>
                <a:sym typeface="Canva Sans Bold"/>
              </a:rPr>
              <a:t>ected Outcomes</a:t>
            </a:r>
          </a:p>
        </p:txBody>
      </p:sp>
      <p:sp>
        <p:nvSpPr>
          <p:cNvPr id="7" name="TextBox 7"/>
          <p:cNvSpPr txBox="1"/>
          <p:nvPr/>
        </p:nvSpPr>
        <p:spPr>
          <a:xfrm>
            <a:off x="7577498" y="1417379"/>
            <a:ext cx="7961750" cy="3928063"/>
          </a:xfrm>
          <a:prstGeom prst="rect">
            <a:avLst/>
          </a:prstGeom>
        </p:spPr>
        <p:txBody>
          <a:bodyPr lIns="0" tIns="0" rIns="0" bIns="0" rtlCol="0" anchor="t">
            <a:spAutoFit/>
          </a:bodyPr>
          <a:lstStyle/>
          <a:p>
            <a:pPr marL="534756" lvl="1" indent="-267378" algn="l">
              <a:lnSpc>
                <a:spcPts val="3467"/>
              </a:lnSpc>
              <a:buFont typeface="Arial"/>
              <a:buChar char="•"/>
            </a:pPr>
            <a:r>
              <a:rPr lang="en-US" sz="2476">
                <a:solidFill>
                  <a:srgbClr val="2A2E3A"/>
                </a:solidFill>
                <a:latin typeface="Canva Sans"/>
                <a:ea typeface="Canva Sans"/>
                <a:cs typeface="Canva Sans"/>
                <a:sym typeface="Canva Sans"/>
              </a:rPr>
              <a:t>Graphical insights into packet delay and round-trip times.</a:t>
            </a:r>
          </a:p>
          <a:p>
            <a:pPr marL="534756" lvl="1" indent="-267378" algn="l">
              <a:lnSpc>
                <a:spcPts val="3467"/>
              </a:lnSpc>
              <a:buFont typeface="Arial"/>
              <a:buChar char="•"/>
            </a:pPr>
            <a:r>
              <a:rPr lang="en-US" sz="2476">
                <a:solidFill>
                  <a:srgbClr val="2A2E3A"/>
                </a:solidFill>
                <a:latin typeface="Canva Sans"/>
                <a:ea typeface="Canva Sans"/>
                <a:cs typeface="Canva Sans"/>
                <a:sym typeface="Canva Sans"/>
              </a:rPr>
              <a:t>Detection of delay spikes and bottlenecks in the network.</a:t>
            </a:r>
          </a:p>
          <a:p>
            <a:pPr marL="534756" lvl="1" indent="-267378" algn="l">
              <a:lnSpc>
                <a:spcPts val="3467"/>
              </a:lnSpc>
              <a:buFont typeface="Arial"/>
              <a:buChar char="•"/>
            </a:pPr>
            <a:r>
              <a:rPr lang="en-US" sz="2476">
                <a:solidFill>
                  <a:srgbClr val="2A2E3A"/>
                </a:solidFill>
                <a:latin typeface="Canva Sans"/>
                <a:ea typeface="Canva Sans"/>
                <a:cs typeface="Canva Sans"/>
                <a:sym typeface="Canva Sans"/>
              </a:rPr>
              <a:t>Support for evaluating performance in real-time applications (gaming, streaming, cloud services).</a:t>
            </a:r>
          </a:p>
          <a:p>
            <a:pPr marL="534756" lvl="1" indent="-267378" algn="l">
              <a:lnSpc>
                <a:spcPts val="3467"/>
              </a:lnSpc>
              <a:buFont typeface="Arial"/>
              <a:buChar char="•"/>
            </a:pPr>
            <a:r>
              <a:rPr lang="en-US" sz="2476">
                <a:solidFill>
                  <a:srgbClr val="2A2E3A"/>
                </a:solidFill>
                <a:latin typeface="Canva Sans"/>
                <a:ea typeface="Canva Sans"/>
                <a:cs typeface="Canva Sans"/>
                <a:sym typeface="Canva Sans"/>
              </a:rPr>
              <a:t>Actionable insights to improve network reliability and speed</a:t>
            </a:r>
          </a:p>
          <a:p>
            <a:pPr algn="l">
              <a:lnSpc>
                <a:spcPts val="3467"/>
              </a:lnSpc>
            </a:pPr>
            <a:endParaRPr lang="en-US" sz="2476">
              <a:solidFill>
                <a:srgbClr val="2A2E3A"/>
              </a:solidFill>
              <a:latin typeface="Canva Sans"/>
              <a:ea typeface="Canva Sans"/>
              <a:cs typeface="Canva Sans"/>
              <a:sym typeface="Canva Sans"/>
            </a:endParaRPr>
          </a:p>
        </p:txBody>
      </p:sp>
      <p:sp>
        <p:nvSpPr>
          <p:cNvPr id="8" name="TextBox 8"/>
          <p:cNvSpPr txBox="1"/>
          <p:nvPr/>
        </p:nvSpPr>
        <p:spPr>
          <a:xfrm>
            <a:off x="5296662" y="5496307"/>
            <a:ext cx="7930039" cy="887095"/>
          </a:xfrm>
          <a:prstGeom prst="rect">
            <a:avLst/>
          </a:prstGeom>
        </p:spPr>
        <p:txBody>
          <a:bodyPr lIns="0" tIns="0" rIns="0" bIns="0" rtlCol="0" anchor="t">
            <a:spAutoFit/>
          </a:bodyPr>
          <a:lstStyle/>
          <a:p>
            <a:pPr algn="ctr">
              <a:lnSpc>
                <a:spcPts val="7279"/>
              </a:lnSpc>
            </a:pPr>
            <a:r>
              <a:rPr lang="en-US" sz="5199" b="1" dirty="0">
                <a:solidFill>
                  <a:srgbClr val="153969"/>
                </a:solidFill>
                <a:latin typeface="Canva Sans Bold"/>
                <a:ea typeface="Canva Sans Bold"/>
                <a:cs typeface="Canva Sans Bold"/>
                <a:sym typeface="Canva Sans Bold"/>
              </a:rPr>
              <a:t>Boundaries /Limitations</a:t>
            </a:r>
          </a:p>
        </p:txBody>
      </p:sp>
      <p:sp>
        <p:nvSpPr>
          <p:cNvPr id="9" name="TextBox 9"/>
          <p:cNvSpPr txBox="1"/>
          <p:nvPr/>
        </p:nvSpPr>
        <p:spPr>
          <a:xfrm>
            <a:off x="7577498" y="6629703"/>
            <a:ext cx="7961750" cy="3489913"/>
          </a:xfrm>
          <a:prstGeom prst="rect">
            <a:avLst/>
          </a:prstGeom>
        </p:spPr>
        <p:txBody>
          <a:bodyPr lIns="0" tIns="0" rIns="0" bIns="0" rtlCol="0" anchor="t">
            <a:spAutoFit/>
          </a:bodyPr>
          <a:lstStyle/>
          <a:p>
            <a:pPr marL="534756" lvl="1" indent="-267378" algn="l">
              <a:lnSpc>
                <a:spcPts val="3467"/>
              </a:lnSpc>
              <a:buFont typeface="Arial"/>
              <a:buChar char="•"/>
            </a:pPr>
            <a:r>
              <a:rPr lang="en-US" sz="2476">
                <a:solidFill>
                  <a:srgbClr val="2A2E3A"/>
                </a:solidFill>
                <a:latin typeface="Canva Sans"/>
                <a:ea typeface="Canva Sans"/>
                <a:cs typeface="Canva Sans"/>
                <a:sym typeface="Canva Sans"/>
              </a:rPr>
              <a:t>Focus is only on TCP, ICMP, and HTTP protocols.</a:t>
            </a:r>
          </a:p>
          <a:p>
            <a:pPr marL="534756" lvl="1" indent="-267378" algn="l">
              <a:lnSpc>
                <a:spcPts val="3467"/>
              </a:lnSpc>
              <a:buFont typeface="Arial"/>
              <a:buChar char="•"/>
            </a:pPr>
            <a:r>
              <a:rPr lang="en-US" sz="2476">
                <a:solidFill>
                  <a:srgbClr val="2A2E3A"/>
                </a:solidFill>
                <a:latin typeface="Canva Sans"/>
                <a:ea typeface="Canva Sans"/>
                <a:cs typeface="Canva Sans"/>
                <a:sym typeface="Canva Sans"/>
              </a:rPr>
              <a:t>Visualization limited to delay and RTT trends (not full protocol analysis).</a:t>
            </a:r>
          </a:p>
          <a:p>
            <a:pPr marL="534756" lvl="1" indent="-267378" algn="l">
              <a:lnSpc>
                <a:spcPts val="3467"/>
              </a:lnSpc>
              <a:buFont typeface="Arial"/>
              <a:buChar char="•"/>
            </a:pPr>
            <a:r>
              <a:rPr lang="en-US" sz="2476">
                <a:solidFill>
                  <a:srgbClr val="2A2E3A"/>
                </a:solidFill>
                <a:latin typeface="Canva Sans"/>
                <a:ea typeface="Canva Sans"/>
                <a:cs typeface="Canva Sans"/>
                <a:sym typeface="Canva Sans"/>
              </a:rPr>
              <a:t>No hardware implementation – purely software-based approach.</a:t>
            </a:r>
          </a:p>
          <a:p>
            <a:pPr marL="534756" lvl="1" indent="-267378" algn="l">
              <a:lnSpc>
                <a:spcPts val="3467"/>
              </a:lnSpc>
              <a:buFont typeface="Arial"/>
              <a:buChar char="•"/>
            </a:pPr>
            <a:r>
              <a:rPr lang="en-US" sz="2476">
                <a:solidFill>
                  <a:srgbClr val="2A2E3A"/>
                </a:solidFill>
                <a:latin typeface="Canva Sans"/>
                <a:ea typeface="Canva Sans"/>
                <a:cs typeface="Canva Sans"/>
                <a:sym typeface="Canva Sans"/>
              </a:rPr>
              <a:t>Real-time monitoring is limited by Wireshark’s capture capability.</a:t>
            </a:r>
          </a:p>
          <a:p>
            <a:pPr algn="l">
              <a:lnSpc>
                <a:spcPts val="3467"/>
              </a:lnSpc>
            </a:pPr>
            <a:endParaRPr lang="en-US" sz="2476">
              <a:solidFill>
                <a:srgbClr val="2A2E3A"/>
              </a:solidFill>
              <a:latin typeface="Canva Sans"/>
              <a:ea typeface="Canva Sans"/>
              <a:cs typeface="Canva Sans"/>
              <a:sym typeface="Canva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6023139" cy="10287000"/>
            <a:chOff x="0" y="0"/>
            <a:chExt cx="1586341" cy="2709333"/>
          </a:xfrm>
        </p:grpSpPr>
        <p:sp>
          <p:nvSpPr>
            <p:cNvPr id="3" name="Freeform 3"/>
            <p:cNvSpPr/>
            <p:nvPr/>
          </p:nvSpPr>
          <p:spPr>
            <a:xfrm>
              <a:off x="0" y="0"/>
              <a:ext cx="1586341" cy="2709333"/>
            </a:xfrm>
            <a:custGeom>
              <a:avLst/>
              <a:gdLst/>
              <a:ahLst/>
              <a:cxnLst/>
              <a:rect l="l" t="t" r="r" b="b"/>
              <a:pathLst>
                <a:path w="1586341" h="2709333">
                  <a:moveTo>
                    <a:pt x="0" y="0"/>
                  </a:moveTo>
                  <a:lnTo>
                    <a:pt x="1586341" y="0"/>
                  </a:lnTo>
                  <a:lnTo>
                    <a:pt x="1586341" y="2709333"/>
                  </a:lnTo>
                  <a:lnTo>
                    <a:pt x="0" y="2709333"/>
                  </a:lnTo>
                  <a:close/>
                </a:path>
              </a:pathLst>
            </a:custGeom>
            <a:solidFill>
              <a:srgbClr val="153969"/>
            </a:solidFill>
          </p:spPr>
        </p:sp>
        <p:sp>
          <p:nvSpPr>
            <p:cNvPr id="4" name="TextBox 4"/>
            <p:cNvSpPr txBox="1"/>
            <p:nvPr/>
          </p:nvSpPr>
          <p:spPr>
            <a:xfrm>
              <a:off x="0" y="-57150"/>
              <a:ext cx="1586341" cy="2766483"/>
            </a:xfrm>
            <a:prstGeom prst="rect">
              <a:avLst/>
            </a:prstGeom>
          </p:spPr>
          <p:txBody>
            <a:bodyPr lIns="50800" tIns="50800" rIns="50800" bIns="50800" rtlCol="0" anchor="ctr"/>
            <a:lstStyle/>
            <a:p>
              <a:pPr algn="ctr">
                <a:lnSpc>
                  <a:spcPts val="3639"/>
                </a:lnSpc>
              </a:pPr>
              <a:endParaRPr/>
            </a:p>
          </p:txBody>
        </p:sp>
      </p:grpSp>
      <p:sp>
        <p:nvSpPr>
          <p:cNvPr id="5" name="TextBox 5"/>
          <p:cNvSpPr txBox="1"/>
          <p:nvPr/>
        </p:nvSpPr>
        <p:spPr>
          <a:xfrm>
            <a:off x="1028700" y="8957310"/>
            <a:ext cx="3974546" cy="300990"/>
          </a:xfrm>
          <a:prstGeom prst="rect">
            <a:avLst/>
          </a:prstGeom>
        </p:spPr>
        <p:txBody>
          <a:bodyPr lIns="0" tIns="0" rIns="0" bIns="0" rtlCol="0" anchor="t">
            <a:spAutoFit/>
          </a:bodyPr>
          <a:lstStyle/>
          <a:p>
            <a:pPr marL="0" lvl="0" indent="0" algn="l">
              <a:lnSpc>
                <a:spcPts val="2340"/>
              </a:lnSpc>
              <a:spcBef>
                <a:spcPct val="0"/>
              </a:spcBef>
            </a:pPr>
            <a:r>
              <a:rPr lang="en-US" sz="1800">
                <a:solidFill>
                  <a:srgbClr val="153969"/>
                </a:solidFill>
                <a:latin typeface="Helios"/>
                <a:ea typeface="Helios"/>
                <a:cs typeface="Helios"/>
                <a:sym typeface="Helios"/>
              </a:rPr>
              <a:t>Back to Agenda</a:t>
            </a:r>
          </a:p>
        </p:txBody>
      </p:sp>
      <p:grpSp>
        <p:nvGrpSpPr>
          <p:cNvPr id="6" name="Group 6"/>
          <p:cNvGrpSpPr/>
          <p:nvPr/>
        </p:nvGrpSpPr>
        <p:grpSpPr>
          <a:xfrm>
            <a:off x="0" y="0"/>
            <a:ext cx="6023139" cy="10287000"/>
            <a:chOff x="0" y="0"/>
            <a:chExt cx="8030853" cy="13716000"/>
          </a:xfrm>
        </p:grpSpPr>
        <p:pic>
          <p:nvPicPr>
            <p:cNvPr id="7" name="Picture 7"/>
            <p:cNvPicPr>
              <a:picLocks noChangeAspect="1"/>
            </p:cNvPicPr>
            <p:nvPr/>
          </p:nvPicPr>
          <p:blipFill>
            <a:blip r:embed="rId2">
              <a:alphaModFix amt="14000"/>
            </a:blip>
            <a:srcRect l="17594" r="17594" b="26206"/>
            <a:stretch>
              <a:fillRect/>
            </a:stretch>
          </p:blipFill>
          <p:spPr>
            <a:xfrm>
              <a:off x="0" y="0"/>
              <a:ext cx="8030853" cy="13716000"/>
            </a:xfrm>
            <a:prstGeom prst="rect">
              <a:avLst/>
            </a:prstGeom>
          </p:spPr>
        </p:pic>
      </p:grpSp>
      <p:sp>
        <p:nvSpPr>
          <p:cNvPr id="8" name="Freeform 8"/>
          <p:cNvSpPr/>
          <p:nvPr/>
        </p:nvSpPr>
        <p:spPr>
          <a:xfrm>
            <a:off x="6496582" y="1595800"/>
            <a:ext cx="11092061" cy="7390085"/>
          </a:xfrm>
          <a:custGeom>
            <a:avLst/>
            <a:gdLst/>
            <a:ahLst/>
            <a:cxnLst/>
            <a:rect l="l" t="t" r="r" b="b"/>
            <a:pathLst>
              <a:path w="11092061" h="7390085">
                <a:moveTo>
                  <a:pt x="0" y="0"/>
                </a:moveTo>
                <a:lnTo>
                  <a:pt x="11092060" y="0"/>
                </a:lnTo>
                <a:lnTo>
                  <a:pt x="11092060" y="7390085"/>
                </a:lnTo>
                <a:lnTo>
                  <a:pt x="0" y="7390085"/>
                </a:lnTo>
                <a:lnTo>
                  <a:pt x="0" y="0"/>
                </a:lnTo>
                <a:close/>
              </a:path>
            </a:pathLst>
          </a:custGeom>
          <a:blipFill>
            <a:blip r:embed="rId3"/>
            <a:stretch>
              <a:fillRect/>
            </a:stretch>
          </a:blipFill>
        </p:spPr>
      </p:sp>
      <p:grpSp>
        <p:nvGrpSpPr>
          <p:cNvPr id="9" name="Group 9"/>
          <p:cNvGrpSpPr/>
          <p:nvPr/>
        </p:nvGrpSpPr>
        <p:grpSpPr>
          <a:xfrm>
            <a:off x="233825" y="450368"/>
            <a:ext cx="5789315" cy="9680948"/>
            <a:chOff x="0" y="0"/>
            <a:chExt cx="7719086" cy="12907930"/>
          </a:xfrm>
        </p:grpSpPr>
        <p:sp>
          <p:nvSpPr>
            <p:cNvPr id="10" name="TextBox 10"/>
            <p:cNvSpPr txBox="1"/>
            <p:nvPr/>
          </p:nvSpPr>
          <p:spPr>
            <a:xfrm>
              <a:off x="0" y="-76200"/>
              <a:ext cx="7719086" cy="3031067"/>
            </a:xfrm>
            <a:prstGeom prst="rect">
              <a:avLst/>
            </a:prstGeom>
          </p:spPr>
          <p:txBody>
            <a:bodyPr lIns="0" tIns="0" rIns="0" bIns="0" rtlCol="0" anchor="t">
              <a:spAutoFit/>
            </a:bodyPr>
            <a:lstStyle/>
            <a:p>
              <a:pPr algn="l">
                <a:lnSpc>
                  <a:spcPts val="9099"/>
                </a:lnSpc>
              </a:pPr>
              <a:r>
                <a:rPr lang="en-US" sz="6999" b="1" dirty="0">
                  <a:solidFill>
                    <a:srgbClr val="FFFFFF"/>
                  </a:solidFill>
                  <a:latin typeface="Klein Bold"/>
                  <a:ea typeface="Klein Bold"/>
                  <a:cs typeface="Klein Bold"/>
                  <a:sym typeface="Klein Bold"/>
                </a:rPr>
                <a:t>Architecture Diagram</a:t>
              </a:r>
            </a:p>
          </p:txBody>
        </p:sp>
        <p:sp>
          <p:nvSpPr>
            <p:cNvPr id="11" name="TextBox 11"/>
            <p:cNvSpPr txBox="1"/>
            <p:nvPr/>
          </p:nvSpPr>
          <p:spPr>
            <a:xfrm>
              <a:off x="0" y="3208729"/>
              <a:ext cx="6841647" cy="9699202"/>
            </a:xfrm>
            <a:prstGeom prst="rect">
              <a:avLst/>
            </a:prstGeom>
          </p:spPr>
          <p:txBody>
            <a:bodyPr lIns="0" tIns="0" rIns="0" bIns="0" rtlCol="0" anchor="t">
              <a:spAutoFit/>
            </a:bodyPr>
            <a:lstStyle/>
            <a:p>
              <a:pPr marL="690879" lvl="1" indent="-345439" algn="l">
                <a:lnSpc>
                  <a:spcPts val="4479"/>
                </a:lnSpc>
                <a:buFont typeface="Arial"/>
                <a:buChar char="•"/>
              </a:pPr>
              <a:r>
                <a:rPr lang="en-US" sz="3199" dirty="0">
                  <a:solidFill>
                    <a:srgbClr val="FFFFFF"/>
                  </a:solidFill>
                  <a:latin typeface="Helios"/>
                  <a:ea typeface="Helios"/>
                  <a:cs typeface="Helios"/>
                  <a:sym typeface="Helios"/>
                </a:rPr>
                <a:t>Wireshark captu</a:t>
              </a:r>
              <a:r>
                <a:rPr lang="en-US" sz="3199" u="none" dirty="0">
                  <a:solidFill>
                    <a:srgbClr val="FFFFFF"/>
                  </a:solidFill>
                  <a:latin typeface="Helios"/>
                  <a:ea typeface="Helios"/>
                  <a:cs typeface="Helios"/>
                  <a:sym typeface="Helios"/>
                </a:rPr>
                <a:t>res network traffic (.</a:t>
              </a:r>
              <a:r>
                <a:rPr lang="en-US" sz="3199" u="none" dirty="0" err="1">
                  <a:solidFill>
                    <a:srgbClr val="FFFFFF"/>
                  </a:solidFill>
                  <a:latin typeface="Helios"/>
                  <a:ea typeface="Helios"/>
                  <a:cs typeface="Helios"/>
                  <a:sym typeface="Helios"/>
                </a:rPr>
                <a:t>pcap</a:t>
              </a:r>
              <a:r>
                <a:rPr lang="en-US" sz="3199" u="none" dirty="0">
                  <a:solidFill>
                    <a:srgbClr val="FFFFFF"/>
                  </a:solidFill>
                  <a:latin typeface="Helios"/>
                  <a:ea typeface="Helios"/>
                  <a:cs typeface="Helios"/>
                  <a:sym typeface="Helios"/>
                </a:rPr>
                <a:t> files).</a:t>
              </a:r>
            </a:p>
            <a:p>
              <a:pPr marL="690879" lvl="1" indent="-345439" algn="l">
                <a:lnSpc>
                  <a:spcPts val="4479"/>
                </a:lnSpc>
                <a:buFont typeface="Arial"/>
                <a:buChar char="•"/>
              </a:pPr>
              <a:r>
                <a:rPr lang="en-US" sz="3199" u="none" dirty="0">
                  <a:solidFill>
                    <a:srgbClr val="FFFFFF"/>
                  </a:solidFill>
                  <a:latin typeface="Helios"/>
                  <a:ea typeface="Helios"/>
                  <a:cs typeface="Helios"/>
                  <a:sym typeface="Helios"/>
                </a:rPr>
                <a:t>Python (</a:t>
              </a:r>
              <a:r>
                <a:rPr lang="en-US" sz="3199" u="none" dirty="0" err="1">
                  <a:solidFill>
                    <a:srgbClr val="FFFFFF"/>
                  </a:solidFill>
                  <a:latin typeface="Helios"/>
                  <a:ea typeface="Helios"/>
                  <a:cs typeface="Helios"/>
                  <a:sym typeface="Helios"/>
                </a:rPr>
                <a:t>Scapy</a:t>
              </a:r>
              <a:r>
                <a:rPr lang="en-US" sz="3199" u="none" dirty="0">
                  <a:solidFill>
                    <a:srgbClr val="FFFFFF"/>
                  </a:solidFill>
                  <a:latin typeface="Helios"/>
                  <a:ea typeface="Helios"/>
                  <a:cs typeface="Helios"/>
                  <a:sym typeface="Helios"/>
                </a:rPr>
                <a:t>, Pandas) extracts timestamps and calculates delays/RTT.</a:t>
              </a:r>
            </a:p>
            <a:p>
              <a:pPr marL="690879" lvl="1" indent="-345439" algn="l">
                <a:lnSpc>
                  <a:spcPts val="4479"/>
                </a:lnSpc>
                <a:buFont typeface="Arial"/>
                <a:buChar char="•"/>
              </a:pPr>
              <a:r>
                <a:rPr lang="en-US" sz="3199" u="none" dirty="0">
                  <a:solidFill>
                    <a:srgbClr val="FFFFFF"/>
                  </a:solidFill>
                  <a:latin typeface="Helios"/>
                  <a:ea typeface="Helios"/>
                  <a:cs typeface="Helios"/>
                  <a:sym typeface="Helios"/>
                </a:rPr>
                <a:t>Matplotlib/Seaborn generates delay visualization graphs. That should be displayed in the dashboard.</a:t>
              </a:r>
            </a:p>
            <a:p>
              <a:pPr algn="l">
                <a:lnSpc>
                  <a:spcPts val="4479"/>
                </a:lnSpc>
              </a:pPr>
              <a:endParaRPr lang="en-US" sz="3199" u="none" dirty="0">
                <a:solidFill>
                  <a:srgbClr val="FFFFFF"/>
                </a:solidFill>
                <a:latin typeface="Helios"/>
                <a:ea typeface="Helios"/>
                <a:cs typeface="Helios"/>
                <a:sym typeface="Helio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581901" y="771891"/>
            <a:ext cx="16219936" cy="8743218"/>
          </a:xfrm>
          <a:custGeom>
            <a:avLst/>
            <a:gdLst/>
            <a:ahLst/>
            <a:cxnLst/>
            <a:rect l="l" t="t" r="r" b="b"/>
            <a:pathLst>
              <a:path w="16219936" h="8743218">
                <a:moveTo>
                  <a:pt x="0" y="0"/>
                </a:moveTo>
                <a:lnTo>
                  <a:pt x="16219936" y="0"/>
                </a:lnTo>
                <a:lnTo>
                  <a:pt x="16219936" y="8743218"/>
                </a:lnTo>
                <a:lnTo>
                  <a:pt x="0" y="8743218"/>
                </a:lnTo>
                <a:lnTo>
                  <a:pt x="0" y="0"/>
                </a:lnTo>
                <a:close/>
              </a:path>
            </a:pathLst>
          </a:custGeom>
          <a:blipFill>
            <a:blip r:embed="rId2"/>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00371" y="3896767"/>
            <a:ext cx="2531565" cy="2531565"/>
          </a:xfrm>
          <a:custGeom>
            <a:avLst/>
            <a:gdLst/>
            <a:ahLst/>
            <a:cxnLst/>
            <a:rect l="l" t="t" r="r" b="b"/>
            <a:pathLst>
              <a:path w="2531565" h="2531565">
                <a:moveTo>
                  <a:pt x="0" y="0"/>
                </a:moveTo>
                <a:lnTo>
                  <a:pt x="2531565" y="0"/>
                </a:lnTo>
                <a:lnTo>
                  <a:pt x="2531565" y="2531565"/>
                </a:lnTo>
                <a:lnTo>
                  <a:pt x="0" y="2531565"/>
                </a:lnTo>
                <a:lnTo>
                  <a:pt x="0" y="0"/>
                </a:lnTo>
                <a:close/>
              </a:path>
            </a:pathLst>
          </a:custGeom>
          <a:blipFill>
            <a:blip r:embed="rId2">
              <a:alphaModFix amt="36000"/>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926061" y="4122456"/>
            <a:ext cx="2080186" cy="2080186"/>
            <a:chOff x="0" y="0"/>
            <a:chExt cx="812800" cy="812800"/>
          </a:xfrm>
        </p:grpSpPr>
        <p:sp>
          <p:nvSpPr>
            <p:cNvPr id="4" name="Freeform 4"/>
            <p:cNvSpPr/>
            <p:nvPr/>
          </p:nvSpPr>
          <p:spPr>
            <a:xfrm>
              <a:off x="47130" y="47130"/>
              <a:ext cx="718541" cy="718541"/>
            </a:xfrm>
            <a:custGeom>
              <a:avLst/>
              <a:gdLst/>
              <a:ahLst/>
              <a:cxnLst/>
              <a:rect l="l" t="t" r="r" b="b"/>
              <a:pathLst>
                <a:path w="718541" h="718541">
                  <a:moveTo>
                    <a:pt x="464537" y="58137"/>
                  </a:moveTo>
                  <a:lnTo>
                    <a:pt x="660403" y="254003"/>
                  </a:lnTo>
                  <a:cubicBezTo>
                    <a:pt x="718540" y="312140"/>
                    <a:pt x="718540" y="406400"/>
                    <a:pt x="660403" y="464537"/>
                  </a:cubicBezTo>
                  <a:lnTo>
                    <a:pt x="464537" y="660403"/>
                  </a:lnTo>
                  <a:cubicBezTo>
                    <a:pt x="406400" y="718540"/>
                    <a:pt x="312140" y="718540"/>
                    <a:pt x="254003" y="660403"/>
                  </a:cubicBezTo>
                  <a:lnTo>
                    <a:pt x="58137" y="464537"/>
                  </a:lnTo>
                  <a:cubicBezTo>
                    <a:pt x="0" y="406400"/>
                    <a:pt x="0" y="312140"/>
                    <a:pt x="58137" y="254003"/>
                  </a:cubicBezTo>
                  <a:lnTo>
                    <a:pt x="254003" y="58137"/>
                  </a:lnTo>
                  <a:cubicBezTo>
                    <a:pt x="312140" y="0"/>
                    <a:pt x="406400" y="0"/>
                    <a:pt x="464537" y="58137"/>
                  </a:cubicBezTo>
                  <a:close/>
                </a:path>
              </a:pathLst>
            </a:custGeom>
            <a:solidFill>
              <a:srgbClr val="153969"/>
            </a:solidFill>
          </p:spPr>
        </p:sp>
        <p:sp>
          <p:nvSpPr>
            <p:cNvPr id="5" name="TextBox 5"/>
            <p:cNvSpPr txBox="1"/>
            <p:nvPr/>
          </p:nvSpPr>
          <p:spPr>
            <a:xfrm>
              <a:off x="139700" y="73025"/>
              <a:ext cx="533400" cy="600075"/>
            </a:xfrm>
            <a:prstGeom prst="rect">
              <a:avLst/>
            </a:prstGeom>
          </p:spPr>
          <p:txBody>
            <a:bodyPr lIns="50800" tIns="50800" rIns="50800" bIns="50800" rtlCol="0" anchor="ctr"/>
            <a:lstStyle/>
            <a:p>
              <a:pPr algn="ctr">
                <a:lnSpc>
                  <a:spcPts val="4199"/>
                </a:lnSpc>
              </a:pPr>
              <a:r>
                <a:rPr lang="en-US" sz="2999" b="1" dirty="0">
                  <a:solidFill>
                    <a:srgbClr val="FFFFFF"/>
                  </a:solidFill>
                  <a:latin typeface="Klein Bold"/>
                  <a:ea typeface="Klein Bold"/>
                  <a:cs typeface="Klein Bold"/>
                  <a:sym typeface="Klein Bold"/>
                </a:rPr>
                <a:t>July </a:t>
              </a:r>
            </a:p>
          </p:txBody>
        </p:sp>
      </p:grpSp>
      <p:sp>
        <p:nvSpPr>
          <p:cNvPr id="6" name="TextBox 6"/>
          <p:cNvSpPr txBox="1"/>
          <p:nvPr/>
        </p:nvSpPr>
        <p:spPr>
          <a:xfrm>
            <a:off x="2619223" y="950912"/>
            <a:ext cx="13049553" cy="1139825"/>
          </a:xfrm>
          <a:prstGeom prst="rect">
            <a:avLst/>
          </a:prstGeom>
        </p:spPr>
        <p:txBody>
          <a:bodyPr lIns="0" tIns="0" rIns="0" bIns="0" rtlCol="0" anchor="t">
            <a:spAutoFit/>
          </a:bodyPr>
          <a:lstStyle/>
          <a:p>
            <a:pPr algn="ctr">
              <a:lnSpc>
                <a:spcPts val="9099"/>
              </a:lnSpc>
            </a:pPr>
            <a:r>
              <a:rPr lang="en-US" sz="6999" b="1">
                <a:solidFill>
                  <a:srgbClr val="153969"/>
                </a:solidFill>
                <a:latin typeface="Klein Bold"/>
                <a:ea typeface="Klein Bold"/>
                <a:cs typeface="Klein Bold"/>
                <a:sym typeface="Klein Bold"/>
              </a:rPr>
              <a:t>Work Plan</a:t>
            </a:r>
          </a:p>
        </p:txBody>
      </p:sp>
      <p:sp>
        <p:nvSpPr>
          <p:cNvPr id="7" name="AutoShape 7"/>
          <p:cNvSpPr/>
          <p:nvPr/>
        </p:nvSpPr>
        <p:spPr>
          <a:xfrm>
            <a:off x="4231936" y="5143500"/>
            <a:ext cx="1586999" cy="38100"/>
          </a:xfrm>
          <a:prstGeom prst="line">
            <a:avLst/>
          </a:prstGeom>
          <a:ln w="38100" cap="flat">
            <a:solidFill>
              <a:srgbClr val="F4F4F4"/>
            </a:solidFill>
            <a:prstDash val="solid"/>
            <a:headEnd type="none" w="sm" len="sm"/>
            <a:tailEnd type="none" w="sm" len="sm"/>
          </a:ln>
        </p:spPr>
      </p:sp>
      <p:sp>
        <p:nvSpPr>
          <p:cNvPr id="8" name="TextBox 8"/>
          <p:cNvSpPr txBox="1"/>
          <p:nvPr/>
        </p:nvSpPr>
        <p:spPr>
          <a:xfrm>
            <a:off x="1028700" y="6677359"/>
            <a:ext cx="3874907" cy="905510"/>
          </a:xfrm>
          <a:prstGeom prst="rect">
            <a:avLst/>
          </a:prstGeom>
        </p:spPr>
        <p:txBody>
          <a:bodyPr lIns="0" tIns="0" rIns="0" bIns="0" rtlCol="0" anchor="t">
            <a:spAutoFit/>
          </a:bodyPr>
          <a:lstStyle/>
          <a:p>
            <a:pPr marL="561339" lvl="1" indent="-280669" algn="ctr">
              <a:lnSpc>
                <a:spcPts val="3639"/>
              </a:lnSpc>
              <a:spcBef>
                <a:spcPct val="0"/>
              </a:spcBef>
              <a:buFont typeface="Arial"/>
              <a:buChar char="•"/>
            </a:pPr>
            <a:r>
              <a:rPr lang="en-US" sz="2599">
                <a:solidFill>
                  <a:srgbClr val="153969"/>
                </a:solidFill>
                <a:latin typeface="Helios"/>
                <a:ea typeface="Helios"/>
                <a:cs typeface="Helios"/>
                <a:sym typeface="Helios"/>
              </a:rPr>
              <a:t>L</a:t>
            </a:r>
            <a:r>
              <a:rPr lang="en-US" sz="2599" u="none">
                <a:solidFill>
                  <a:srgbClr val="153969"/>
                </a:solidFill>
                <a:latin typeface="Helios"/>
                <a:ea typeface="Helios"/>
                <a:cs typeface="Helios"/>
                <a:sym typeface="Helios"/>
              </a:rPr>
              <a:t>iterature review &amp; project setup.</a:t>
            </a:r>
          </a:p>
        </p:txBody>
      </p:sp>
      <p:sp>
        <p:nvSpPr>
          <p:cNvPr id="9" name="TextBox 9"/>
          <p:cNvSpPr txBox="1"/>
          <p:nvPr/>
        </p:nvSpPr>
        <p:spPr>
          <a:xfrm>
            <a:off x="5147264" y="6677359"/>
            <a:ext cx="3874907" cy="1362710"/>
          </a:xfrm>
          <a:prstGeom prst="rect">
            <a:avLst/>
          </a:prstGeom>
        </p:spPr>
        <p:txBody>
          <a:bodyPr lIns="0" tIns="0" rIns="0" bIns="0" rtlCol="0" anchor="t">
            <a:spAutoFit/>
          </a:bodyPr>
          <a:lstStyle/>
          <a:p>
            <a:pPr marL="0" lvl="0" indent="0" algn="ctr">
              <a:lnSpc>
                <a:spcPts val="3639"/>
              </a:lnSpc>
              <a:spcBef>
                <a:spcPct val="0"/>
              </a:spcBef>
            </a:pPr>
            <a:r>
              <a:rPr lang="en-US" sz="2599">
                <a:solidFill>
                  <a:srgbClr val="153969"/>
                </a:solidFill>
                <a:latin typeface="Helios"/>
                <a:ea typeface="Helios"/>
                <a:cs typeface="Helios"/>
                <a:sym typeface="Helios"/>
              </a:rPr>
              <a:t>Da</a:t>
            </a:r>
            <a:r>
              <a:rPr lang="en-US" sz="2599" u="none">
                <a:solidFill>
                  <a:srgbClr val="153969"/>
                </a:solidFill>
                <a:latin typeface="Helios"/>
                <a:ea typeface="Helios"/>
                <a:cs typeface="Helios"/>
                <a:sym typeface="Helios"/>
              </a:rPr>
              <a:t>ta collection (Wireshark captures) and initial processing scripts</a:t>
            </a:r>
          </a:p>
        </p:txBody>
      </p:sp>
      <p:sp>
        <p:nvSpPr>
          <p:cNvPr id="10" name="Freeform 10"/>
          <p:cNvSpPr/>
          <p:nvPr/>
        </p:nvSpPr>
        <p:spPr>
          <a:xfrm>
            <a:off x="5818935" y="3896767"/>
            <a:ext cx="2531565" cy="2531565"/>
          </a:xfrm>
          <a:custGeom>
            <a:avLst/>
            <a:gdLst/>
            <a:ahLst/>
            <a:cxnLst/>
            <a:rect l="l" t="t" r="r" b="b"/>
            <a:pathLst>
              <a:path w="2531565" h="2531565">
                <a:moveTo>
                  <a:pt x="0" y="0"/>
                </a:moveTo>
                <a:lnTo>
                  <a:pt x="2531566" y="0"/>
                </a:lnTo>
                <a:lnTo>
                  <a:pt x="2531566" y="2531565"/>
                </a:lnTo>
                <a:lnTo>
                  <a:pt x="0" y="2531565"/>
                </a:lnTo>
                <a:lnTo>
                  <a:pt x="0" y="0"/>
                </a:lnTo>
                <a:close/>
              </a:path>
            </a:pathLst>
          </a:custGeom>
          <a:blipFill>
            <a:blip r:embed="rId2">
              <a:alphaModFix amt="36000"/>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6044625" y="4122456"/>
            <a:ext cx="2080186" cy="2080186"/>
            <a:chOff x="0" y="0"/>
            <a:chExt cx="812800" cy="812800"/>
          </a:xfrm>
        </p:grpSpPr>
        <p:sp>
          <p:nvSpPr>
            <p:cNvPr id="12" name="Freeform 12"/>
            <p:cNvSpPr/>
            <p:nvPr/>
          </p:nvSpPr>
          <p:spPr>
            <a:xfrm>
              <a:off x="47130" y="47130"/>
              <a:ext cx="718541" cy="718541"/>
            </a:xfrm>
            <a:custGeom>
              <a:avLst/>
              <a:gdLst/>
              <a:ahLst/>
              <a:cxnLst/>
              <a:rect l="l" t="t" r="r" b="b"/>
              <a:pathLst>
                <a:path w="718541" h="718541">
                  <a:moveTo>
                    <a:pt x="464537" y="58137"/>
                  </a:moveTo>
                  <a:lnTo>
                    <a:pt x="660403" y="254003"/>
                  </a:lnTo>
                  <a:cubicBezTo>
                    <a:pt x="718540" y="312140"/>
                    <a:pt x="718540" y="406400"/>
                    <a:pt x="660403" y="464537"/>
                  </a:cubicBezTo>
                  <a:lnTo>
                    <a:pt x="464537" y="660403"/>
                  </a:lnTo>
                  <a:cubicBezTo>
                    <a:pt x="406400" y="718540"/>
                    <a:pt x="312140" y="718540"/>
                    <a:pt x="254003" y="660403"/>
                  </a:cubicBezTo>
                  <a:lnTo>
                    <a:pt x="58137" y="464537"/>
                  </a:lnTo>
                  <a:cubicBezTo>
                    <a:pt x="0" y="406400"/>
                    <a:pt x="0" y="312140"/>
                    <a:pt x="58137" y="254003"/>
                  </a:cubicBezTo>
                  <a:lnTo>
                    <a:pt x="254003" y="58137"/>
                  </a:lnTo>
                  <a:cubicBezTo>
                    <a:pt x="312140" y="0"/>
                    <a:pt x="406400" y="0"/>
                    <a:pt x="464537" y="58137"/>
                  </a:cubicBezTo>
                  <a:close/>
                </a:path>
              </a:pathLst>
            </a:custGeom>
            <a:solidFill>
              <a:srgbClr val="153969"/>
            </a:solidFill>
          </p:spPr>
        </p:sp>
        <p:sp>
          <p:nvSpPr>
            <p:cNvPr id="13" name="TextBox 13"/>
            <p:cNvSpPr txBox="1"/>
            <p:nvPr/>
          </p:nvSpPr>
          <p:spPr>
            <a:xfrm>
              <a:off x="139700" y="73025"/>
              <a:ext cx="533400" cy="600075"/>
            </a:xfrm>
            <a:prstGeom prst="rect">
              <a:avLst/>
            </a:prstGeom>
          </p:spPr>
          <p:txBody>
            <a:bodyPr lIns="50800" tIns="50800" rIns="50800" bIns="50800" rtlCol="0" anchor="ctr"/>
            <a:lstStyle/>
            <a:p>
              <a:pPr algn="ctr">
                <a:lnSpc>
                  <a:spcPts val="4199"/>
                </a:lnSpc>
              </a:pPr>
              <a:r>
                <a:rPr lang="en-US" sz="2999" b="1">
                  <a:solidFill>
                    <a:srgbClr val="FFFFFF"/>
                  </a:solidFill>
                  <a:latin typeface="Klein Bold"/>
                  <a:ea typeface="Klein Bold"/>
                  <a:cs typeface="Klein Bold"/>
                  <a:sym typeface="Klein Bold"/>
                </a:rPr>
                <a:t>Aug</a:t>
              </a:r>
            </a:p>
          </p:txBody>
        </p:sp>
      </p:grpSp>
      <p:sp>
        <p:nvSpPr>
          <p:cNvPr id="14" name="AutoShape 14"/>
          <p:cNvSpPr/>
          <p:nvPr/>
        </p:nvSpPr>
        <p:spPr>
          <a:xfrm>
            <a:off x="8350443" y="5153024"/>
            <a:ext cx="1587113" cy="38100"/>
          </a:xfrm>
          <a:prstGeom prst="line">
            <a:avLst/>
          </a:prstGeom>
          <a:ln w="38100" cap="flat">
            <a:solidFill>
              <a:srgbClr val="F4F4F4"/>
            </a:solidFill>
            <a:prstDash val="solid"/>
            <a:headEnd type="none" w="sm" len="sm"/>
            <a:tailEnd type="none" w="sm" len="sm"/>
          </a:ln>
        </p:spPr>
      </p:sp>
      <p:sp>
        <p:nvSpPr>
          <p:cNvPr id="15" name="TextBox 15"/>
          <p:cNvSpPr txBox="1"/>
          <p:nvPr/>
        </p:nvSpPr>
        <p:spPr>
          <a:xfrm>
            <a:off x="9265828" y="6677359"/>
            <a:ext cx="3874907" cy="1362710"/>
          </a:xfrm>
          <a:prstGeom prst="rect">
            <a:avLst/>
          </a:prstGeom>
        </p:spPr>
        <p:txBody>
          <a:bodyPr lIns="0" tIns="0" rIns="0" bIns="0" rtlCol="0" anchor="t">
            <a:spAutoFit/>
          </a:bodyPr>
          <a:lstStyle/>
          <a:p>
            <a:pPr marL="0" lvl="0" indent="0" algn="ctr">
              <a:lnSpc>
                <a:spcPts val="3639"/>
              </a:lnSpc>
              <a:spcBef>
                <a:spcPct val="0"/>
              </a:spcBef>
            </a:pPr>
            <a:r>
              <a:rPr lang="en-US" sz="2599">
                <a:solidFill>
                  <a:srgbClr val="153969"/>
                </a:solidFill>
                <a:latin typeface="Helios"/>
                <a:ea typeface="Helios"/>
                <a:cs typeface="Helios"/>
                <a:sym typeface="Helios"/>
              </a:rPr>
              <a:t>Visual</a:t>
            </a:r>
            <a:r>
              <a:rPr lang="en-US" sz="2599" u="none">
                <a:solidFill>
                  <a:srgbClr val="153969"/>
                </a:solidFill>
                <a:latin typeface="Helios"/>
                <a:ea typeface="Helios"/>
                <a:cs typeface="Helios"/>
                <a:sym typeface="Helios"/>
              </a:rPr>
              <a:t>ization of delay and RTT trends, testing under different conditions</a:t>
            </a:r>
          </a:p>
        </p:txBody>
      </p:sp>
      <p:sp>
        <p:nvSpPr>
          <p:cNvPr id="16" name="Freeform 16"/>
          <p:cNvSpPr/>
          <p:nvPr/>
        </p:nvSpPr>
        <p:spPr>
          <a:xfrm>
            <a:off x="9937499" y="3896767"/>
            <a:ext cx="2531565" cy="2531565"/>
          </a:xfrm>
          <a:custGeom>
            <a:avLst/>
            <a:gdLst/>
            <a:ahLst/>
            <a:cxnLst/>
            <a:rect l="l" t="t" r="r" b="b"/>
            <a:pathLst>
              <a:path w="2531565" h="2531565">
                <a:moveTo>
                  <a:pt x="0" y="0"/>
                </a:moveTo>
                <a:lnTo>
                  <a:pt x="2531566" y="0"/>
                </a:lnTo>
                <a:lnTo>
                  <a:pt x="2531566" y="2531565"/>
                </a:lnTo>
                <a:lnTo>
                  <a:pt x="0" y="2531565"/>
                </a:lnTo>
                <a:lnTo>
                  <a:pt x="0" y="0"/>
                </a:lnTo>
                <a:close/>
              </a:path>
            </a:pathLst>
          </a:custGeom>
          <a:blipFill>
            <a:blip r:embed="rId2">
              <a:alphaModFix amt="36000"/>
              <a:extLst>
                <a:ext uri="{96DAC541-7B7A-43D3-8B79-37D633B846F1}">
                  <asvg:svgBlip xmlns:asvg="http://schemas.microsoft.com/office/drawing/2016/SVG/main" r:embed="rId3"/>
                </a:ext>
              </a:extLst>
            </a:blip>
            <a:stretch>
              <a:fillRect/>
            </a:stretch>
          </a:blipFill>
        </p:spPr>
      </p:sp>
      <p:grpSp>
        <p:nvGrpSpPr>
          <p:cNvPr id="17" name="Group 17"/>
          <p:cNvGrpSpPr/>
          <p:nvPr/>
        </p:nvGrpSpPr>
        <p:grpSpPr>
          <a:xfrm>
            <a:off x="10163189" y="4122456"/>
            <a:ext cx="2080186" cy="2080186"/>
            <a:chOff x="0" y="0"/>
            <a:chExt cx="812800" cy="812800"/>
          </a:xfrm>
        </p:grpSpPr>
        <p:sp>
          <p:nvSpPr>
            <p:cNvPr id="18" name="Freeform 18"/>
            <p:cNvSpPr/>
            <p:nvPr/>
          </p:nvSpPr>
          <p:spPr>
            <a:xfrm>
              <a:off x="47130" y="47130"/>
              <a:ext cx="718541" cy="718541"/>
            </a:xfrm>
            <a:custGeom>
              <a:avLst/>
              <a:gdLst/>
              <a:ahLst/>
              <a:cxnLst/>
              <a:rect l="l" t="t" r="r" b="b"/>
              <a:pathLst>
                <a:path w="718541" h="718541">
                  <a:moveTo>
                    <a:pt x="464537" y="58137"/>
                  </a:moveTo>
                  <a:lnTo>
                    <a:pt x="660403" y="254003"/>
                  </a:lnTo>
                  <a:cubicBezTo>
                    <a:pt x="718540" y="312140"/>
                    <a:pt x="718540" y="406400"/>
                    <a:pt x="660403" y="464537"/>
                  </a:cubicBezTo>
                  <a:lnTo>
                    <a:pt x="464537" y="660403"/>
                  </a:lnTo>
                  <a:cubicBezTo>
                    <a:pt x="406400" y="718540"/>
                    <a:pt x="312140" y="718540"/>
                    <a:pt x="254003" y="660403"/>
                  </a:cubicBezTo>
                  <a:lnTo>
                    <a:pt x="58137" y="464537"/>
                  </a:lnTo>
                  <a:cubicBezTo>
                    <a:pt x="0" y="406400"/>
                    <a:pt x="0" y="312140"/>
                    <a:pt x="58137" y="254003"/>
                  </a:cubicBezTo>
                  <a:lnTo>
                    <a:pt x="254003" y="58137"/>
                  </a:lnTo>
                  <a:cubicBezTo>
                    <a:pt x="312140" y="0"/>
                    <a:pt x="406400" y="0"/>
                    <a:pt x="464537" y="58137"/>
                  </a:cubicBezTo>
                  <a:close/>
                </a:path>
              </a:pathLst>
            </a:custGeom>
            <a:solidFill>
              <a:srgbClr val="153969"/>
            </a:solidFill>
          </p:spPr>
        </p:sp>
        <p:sp>
          <p:nvSpPr>
            <p:cNvPr id="19" name="TextBox 19"/>
            <p:cNvSpPr txBox="1"/>
            <p:nvPr/>
          </p:nvSpPr>
          <p:spPr>
            <a:xfrm>
              <a:off x="139700" y="73025"/>
              <a:ext cx="533400" cy="600075"/>
            </a:xfrm>
            <a:prstGeom prst="rect">
              <a:avLst/>
            </a:prstGeom>
          </p:spPr>
          <p:txBody>
            <a:bodyPr lIns="50800" tIns="50800" rIns="50800" bIns="50800" rtlCol="0" anchor="ctr"/>
            <a:lstStyle/>
            <a:p>
              <a:pPr algn="ctr">
                <a:lnSpc>
                  <a:spcPts val="4199"/>
                </a:lnSpc>
              </a:pPr>
              <a:r>
                <a:rPr lang="en-US" sz="2999" b="1">
                  <a:solidFill>
                    <a:srgbClr val="FFFFFF"/>
                  </a:solidFill>
                  <a:latin typeface="Klein Bold"/>
                  <a:ea typeface="Klein Bold"/>
                  <a:cs typeface="Klein Bold"/>
                  <a:sym typeface="Klein Bold"/>
                </a:rPr>
                <a:t>Sept</a:t>
              </a:r>
            </a:p>
          </p:txBody>
        </p:sp>
      </p:grpSp>
      <p:sp>
        <p:nvSpPr>
          <p:cNvPr id="20" name="AutoShape 20"/>
          <p:cNvSpPr/>
          <p:nvPr/>
        </p:nvSpPr>
        <p:spPr>
          <a:xfrm>
            <a:off x="12469065" y="5143500"/>
            <a:ext cx="1586999" cy="38100"/>
          </a:xfrm>
          <a:prstGeom prst="line">
            <a:avLst/>
          </a:prstGeom>
          <a:ln w="38100" cap="flat">
            <a:solidFill>
              <a:srgbClr val="F4F4F4"/>
            </a:solidFill>
            <a:prstDash val="solid"/>
            <a:headEnd type="none" w="sm" len="sm"/>
            <a:tailEnd type="none" w="sm" len="sm"/>
          </a:ln>
        </p:spPr>
      </p:sp>
      <p:sp>
        <p:nvSpPr>
          <p:cNvPr id="21" name="TextBox 21"/>
          <p:cNvSpPr txBox="1"/>
          <p:nvPr/>
        </p:nvSpPr>
        <p:spPr>
          <a:xfrm>
            <a:off x="13565805" y="6677359"/>
            <a:ext cx="3874907" cy="1819910"/>
          </a:xfrm>
          <a:prstGeom prst="rect">
            <a:avLst/>
          </a:prstGeom>
        </p:spPr>
        <p:txBody>
          <a:bodyPr lIns="0" tIns="0" rIns="0" bIns="0" rtlCol="0" anchor="t">
            <a:spAutoFit/>
          </a:bodyPr>
          <a:lstStyle/>
          <a:p>
            <a:pPr marL="0" lvl="0" indent="0" algn="ctr">
              <a:lnSpc>
                <a:spcPts val="3639"/>
              </a:lnSpc>
              <a:spcBef>
                <a:spcPct val="0"/>
              </a:spcBef>
            </a:pPr>
            <a:r>
              <a:rPr lang="en-US" sz="2599">
                <a:solidFill>
                  <a:srgbClr val="153969"/>
                </a:solidFill>
                <a:latin typeface="Helios"/>
                <a:ea typeface="Helios"/>
                <a:cs typeface="Helios"/>
                <a:sym typeface="Helios"/>
              </a:rPr>
              <a:t>A</a:t>
            </a:r>
            <a:r>
              <a:rPr lang="en-US" sz="2599" u="none">
                <a:solidFill>
                  <a:srgbClr val="153969"/>
                </a:solidFill>
                <a:latin typeface="Helios"/>
                <a:ea typeface="Helios"/>
                <a:cs typeface="Helios"/>
                <a:sym typeface="Helios"/>
              </a:rPr>
              <a:t>nalysis, interpretation of results, final documentation &amp; presentation</a:t>
            </a:r>
          </a:p>
        </p:txBody>
      </p:sp>
      <p:sp>
        <p:nvSpPr>
          <p:cNvPr id="22" name="Freeform 22"/>
          <p:cNvSpPr/>
          <p:nvPr/>
        </p:nvSpPr>
        <p:spPr>
          <a:xfrm>
            <a:off x="14056064" y="3896767"/>
            <a:ext cx="2531565" cy="2531565"/>
          </a:xfrm>
          <a:custGeom>
            <a:avLst/>
            <a:gdLst/>
            <a:ahLst/>
            <a:cxnLst/>
            <a:rect l="l" t="t" r="r" b="b"/>
            <a:pathLst>
              <a:path w="2531565" h="2531565">
                <a:moveTo>
                  <a:pt x="0" y="0"/>
                </a:moveTo>
                <a:lnTo>
                  <a:pt x="2531565" y="0"/>
                </a:lnTo>
                <a:lnTo>
                  <a:pt x="2531565" y="2531565"/>
                </a:lnTo>
                <a:lnTo>
                  <a:pt x="0" y="2531565"/>
                </a:lnTo>
                <a:lnTo>
                  <a:pt x="0" y="0"/>
                </a:lnTo>
                <a:close/>
              </a:path>
            </a:pathLst>
          </a:custGeom>
          <a:blipFill>
            <a:blip r:embed="rId2">
              <a:alphaModFix amt="36000"/>
              <a:extLst>
                <a:ext uri="{96DAC541-7B7A-43D3-8B79-37D633B846F1}">
                  <asvg:svgBlip xmlns:asvg="http://schemas.microsoft.com/office/drawing/2016/SVG/main" r:embed="rId3"/>
                </a:ext>
              </a:extLst>
            </a:blip>
            <a:stretch>
              <a:fillRect/>
            </a:stretch>
          </a:blipFill>
        </p:spPr>
      </p:sp>
      <p:grpSp>
        <p:nvGrpSpPr>
          <p:cNvPr id="23" name="Group 23"/>
          <p:cNvGrpSpPr/>
          <p:nvPr/>
        </p:nvGrpSpPr>
        <p:grpSpPr>
          <a:xfrm>
            <a:off x="14281753" y="4122456"/>
            <a:ext cx="2080186" cy="2080186"/>
            <a:chOff x="0" y="0"/>
            <a:chExt cx="812800" cy="812800"/>
          </a:xfrm>
        </p:grpSpPr>
        <p:sp>
          <p:nvSpPr>
            <p:cNvPr id="24" name="Freeform 24"/>
            <p:cNvSpPr/>
            <p:nvPr/>
          </p:nvSpPr>
          <p:spPr>
            <a:xfrm>
              <a:off x="47130" y="47130"/>
              <a:ext cx="718541" cy="718541"/>
            </a:xfrm>
            <a:custGeom>
              <a:avLst/>
              <a:gdLst/>
              <a:ahLst/>
              <a:cxnLst/>
              <a:rect l="l" t="t" r="r" b="b"/>
              <a:pathLst>
                <a:path w="718541" h="718541">
                  <a:moveTo>
                    <a:pt x="464537" y="58137"/>
                  </a:moveTo>
                  <a:lnTo>
                    <a:pt x="660403" y="254003"/>
                  </a:lnTo>
                  <a:cubicBezTo>
                    <a:pt x="718540" y="312140"/>
                    <a:pt x="718540" y="406400"/>
                    <a:pt x="660403" y="464537"/>
                  </a:cubicBezTo>
                  <a:lnTo>
                    <a:pt x="464537" y="660403"/>
                  </a:lnTo>
                  <a:cubicBezTo>
                    <a:pt x="406400" y="718540"/>
                    <a:pt x="312140" y="718540"/>
                    <a:pt x="254003" y="660403"/>
                  </a:cubicBezTo>
                  <a:lnTo>
                    <a:pt x="58137" y="464537"/>
                  </a:lnTo>
                  <a:cubicBezTo>
                    <a:pt x="0" y="406400"/>
                    <a:pt x="0" y="312140"/>
                    <a:pt x="58137" y="254003"/>
                  </a:cubicBezTo>
                  <a:lnTo>
                    <a:pt x="254003" y="58137"/>
                  </a:lnTo>
                  <a:cubicBezTo>
                    <a:pt x="312140" y="0"/>
                    <a:pt x="406400" y="0"/>
                    <a:pt x="464537" y="58137"/>
                  </a:cubicBezTo>
                  <a:close/>
                </a:path>
              </a:pathLst>
            </a:custGeom>
            <a:solidFill>
              <a:srgbClr val="153969"/>
            </a:solidFill>
          </p:spPr>
        </p:sp>
        <p:sp>
          <p:nvSpPr>
            <p:cNvPr id="25" name="TextBox 25"/>
            <p:cNvSpPr txBox="1"/>
            <p:nvPr/>
          </p:nvSpPr>
          <p:spPr>
            <a:xfrm>
              <a:off x="139700" y="73025"/>
              <a:ext cx="533400" cy="600075"/>
            </a:xfrm>
            <a:prstGeom prst="rect">
              <a:avLst/>
            </a:prstGeom>
          </p:spPr>
          <p:txBody>
            <a:bodyPr lIns="50800" tIns="50800" rIns="50800" bIns="50800" rtlCol="0" anchor="ctr"/>
            <a:lstStyle/>
            <a:p>
              <a:pPr algn="ctr">
                <a:lnSpc>
                  <a:spcPts val="4199"/>
                </a:lnSpc>
              </a:pPr>
              <a:r>
                <a:rPr lang="en-US" sz="2999" b="1">
                  <a:solidFill>
                    <a:srgbClr val="FFFFFF"/>
                  </a:solidFill>
                  <a:latin typeface="Klein Bold"/>
                  <a:ea typeface="Klein Bold"/>
                  <a:cs typeface="Klein Bold"/>
                  <a:sym typeface="Klein Bold"/>
                </a:rPr>
                <a:t>Oct</a:t>
              </a:r>
            </a:p>
          </p:txBody>
        </p:sp>
      </p:grpSp>
      <p:grpSp>
        <p:nvGrpSpPr>
          <p:cNvPr id="26" name="Group 26"/>
          <p:cNvGrpSpPr/>
          <p:nvPr/>
        </p:nvGrpSpPr>
        <p:grpSpPr>
          <a:xfrm>
            <a:off x="0" y="9125919"/>
            <a:ext cx="18288000" cy="1161081"/>
            <a:chOff x="0" y="0"/>
            <a:chExt cx="4816593" cy="305799"/>
          </a:xfrm>
        </p:grpSpPr>
        <p:sp>
          <p:nvSpPr>
            <p:cNvPr id="27" name="Freeform 27"/>
            <p:cNvSpPr/>
            <p:nvPr/>
          </p:nvSpPr>
          <p:spPr>
            <a:xfrm>
              <a:off x="0" y="0"/>
              <a:ext cx="4816592" cy="305799"/>
            </a:xfrm>
            <a:custGeom>
              <a:avLst/>
              <a:gdLst/>
              <a:ahLst/>
              <a:cxnLst/>
              <a:rect l="l" t="t" r="r" b="b"/>
              <a:pathLst>
                <a:path w="4816592" h="305799">
                  <a:moveTo>
                    <a:pt x="0" y="0"/>
                  </a:moveTo>
                  <a:lnTo>
                    <a:pt x="4816592" y="0"/>
                  </a:lnTo>
                  <a:lnTo>
                    <a:pt x="4816592" y="305799"/>
                  </a:lnTo>
                  <a:lnTo>
                    <a:pt x="0" y="305799"/>
                  </a:lnTo>
                  <a:close/>
                </a:path>
              </a:pathLst>
            </a:custGeom>
            <a:solidFill>
              <a:srgbClr val="153969"/>
            </a:solidFill>
          </p:spPr>
        </p:sp>
        <p:sp>
          <p:nvSpPr>
            <p:cNvPr id="28" name="TextBox 28"/>
            <p:cNvSpPr txBox="1"/>
            <p:nvPr/>
          </p:nvSpPr>
          <p:spPr>
            <a:xfrm>
              <a:off x="0" y="-38100"/>
              <a:ext cx="4816593" cy="343899"/>
            </a:xfrm>
            <a:prstGeom prst="rect">
              <a:avLst/>
            </a:prstGeom>
          </p:spPr>
          <p:txBody>
            <a:bodyPr lIns="50800" tIns="50800" rIns="50800" bIns="50800" rtlCol="0" anchor="ctr"/>
            <a:lstStyle/>
            <a:p>
              <a:pPr algn="ctr">
                <a:lnSpc>
                  <a:spcPts val="2100"/>
                </a:lnSpc>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1000"/>
                                        <p:tgtEl>
                                          <p:spTgt spid="17"/>
                                        </p:tgtEl>
                                      </p:cBhvr>
                                    </p:animEffect>
                                    <p:anim calcmode="lin" valueType="num">
                                      <p:cBhvr>
                                        <p:cTn id="22" dur="1000" fill="hold"/>
                                        <p:tgtEl>
                                          <p:spTgt spid="17"/>
                                        </p:tgtEl>
                                        <p:attrNameLst>
                                          <p:attrName>ppt_x</p:attrName>
                                        </p:attrNameLst>
                                      </p:cBhvr>
                                      <p:tavLst>
                                        <p:tav tm="0">
                                          <p:val>
                                            <p:strVal val="#ppt_x"/>
                                          </p:val>
                                        </p:tav>
                                        <p:tav tm="100000">
                                          <p:val>
                                            <p:strVal val="#ppt_x"/>
                                          </p:val>
                                        </p:tav>
                                      </p:tavLst>
                                    </p:anim>
                                    <p:anim calcmode="lin" valueType="num">
                                      <p:cBhvr>
                                        <p:cTn id="23"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1000"/>
                                        <p:tgtEl>
                                          <p:spTgt spid="23"/>
                                        </p:tgtEl>
                                      </p:cBhvr>
                                    </p:animEffect>
                                    <p:anim calcmode="lin" valueType="num">
                                      <p:cBhvr>
                                        <p:cTn id="29" dur="1000" fill="hold"/>
                                        <p:tgtEl>
                                          <p:spTgt spid="23"/>
                                        </p:tgtEl>
                                        <p:attrNameLst>
                                          <p:attrName>ppt_x</p:attrName>
                                        </p:attrNameLst>
                                      </p:cBhvr>
                                      <p:tavLst>
                                        <p:tav tm="0">
                                          <p:val>
                                            <p:strVal val="#ppt_x"/>
                                          </p:val>
                                        </p:tav>
                                        <p:tav tm="100000">
                                          <p:val>
                                            <p:strVal val="#ppt_x"/>
                                          </p:val>
                                        </p:tav>
                                      </p:tavLst>
                                    </p:anim>
                                    <p:anim calcmode="lin" valueType="num">
                                      <p:cBhvr>
                                        <p:cTn id="30"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125919"/>
            <a:ext cx="18288000" cy="1161081"/>
            <a:chOff x="0" y="0"/>
            <a:chExt cx="4816593" cy="305799"/>
          </a:xfrm>
        </p:grpSpPr>
        <p:sp>
          <p:nvSpPr>
            <p:cNvPr id="3" name="Freeform 3"/>
            <p:cNvSpPr/>
            <p:nvPr/>
          </p:nvSpPr>
          <p:spPr>
            <a:xfrm>
              <a:off x="0" y="0"/>
              <a:ext cx="4816592" cy="305799"/>
            </a:xfrm>
            <a:custGeom>
              <a:avLst/>
              <a:gdLst/>
              <a:ahLst/>
              <a:cxnLst/>
              <a:rect l="l" t="t" r="r" b="b"/>
              <a:pathLst>
                <a:path w="4816592" h="305799">
                  <a:moveTo>
                    <a:pt x="0" y="0"/>
                  </a:moveTo>
                  <a:lnTo>
                    <a:pt x="4816592" y="0"/>
                  </a:lnTo>
                  <a:lnTo>
                    <a:pt x="4816592" y="305799"/>
                  </a:lnTo>
                  <a:lnTo>
                    <a:pt x="0" y="305799"/>
                  </a:lnTo>
                  <a:close/>
                </a:path>
              </a:pathLst>
            </a:custGeom>
            <a:solidFill>
              <a:srgbClr val="153969"/>
            </a:solidFill>
          </p:spPr>
        </p:sp>
        <p:sp>
          <p:nvSpPr>
            <p:cNvPr id="4" name="TextBox 4"/>
            <p:cNvSpPr txBox="1"/>
            <p:nvPr/>
          </p:nvSpPr>
          <p:spPr>
            <a:xfrm>
              <a:off x="0" y="-38100"/>
              <a:ext cx="4816593" cy="343899"/>
            </a:xfrm>
            <a:prstGeom prst="rect">
              <a:avLst/>
            </a:prstGeom>
          </p:spPr>
          <p:txBody>
            <a:bodyPr lIns="50800" tIns="50800" rIns="50800" bIns="50800" rtlCol="0" anchor="ctr"/>
            <a:lstStyle/>
            <a:p>
              <a:pPr algn="ctr">
                <a:lnSpc>
                  <a:spcPts val="2100"/>
                </a:lnSpc>
              </a:pPr>
              <a:endParaRPr/>
            </a:p>
          </p:txBody>
        </p:sp>
      </p:grpSp>
      <p:grpSp>
        <p:nvGrpSpPr>
          <p:cNvPr id="5" name="Group 5"/>
          <p:cNvGrpSpPr/>
          <p:nvPr/>
        </p:nvGrpSpPr>
        <p:grpSpPr>
          <a:xfrm>
            <a:off x="2308230" y="301462"/>
            <a:ext cx="13049553" cy="1789453"/>
            <a:chOff x="0" y="0"/>
            <a:chExt cx="17399404" cy="2385937"/>
          </a:xfrm>
        </p:grpSpPr>
        <p:sp>
          <p:nvSpPr>
            <p:cNvPr id="6" name="TextBox 6"/>
            <p:cNvSpPr txBox="1"/>
            <p:nvPr/>
          </p:nvSpPr>
          <p:spPr>
            <a:xfrm>
              <a:off x="0" y="-76200"/>
              <a:ext cx="17399404" cy="1494367"/>
            </a:xfrm>
            <a:prstGeom prst="rect">
              <a:avLst/>
            </a:prstGeom>
          </p:spPr>
          <p:txBody>
            <a:bodyPr lIns="0" tIns="0" rIns="0" bIns="0" rtlCol="0" anchor="t">
              <a:spAutoFit/>
            </a:bodyPr>
            <a:lstStyle/>
            <a:p>
              <a:pPr algn="ctr">
                <a:lnSpc>
                  <a:spcPts val="9099"/>
                </a:lnSpc>
              </a:pPr>
              <a:r>
                <a:rPr lang="en-US" sz="6999" b="1" dirty="0">
                  <a:solidFill>
                    <a:srgbClr val="153969"/>
                  </a:solidFill>
                  <a:latin typeface="Klein Bold"/>
                  <a:ea typeface="Klein Bold"/>
                  <a:cs typeface="Klein Bold"/>
                  <a:sym typeface="Klein Bold"/>
                </a:rPr>
                <a:t>References</a:t>
              </a:r>
            </a:p>
          </p:txBody>
        </p:sp>
        <p:sp>
          <p:nvSpPr>
            <p:cNvPr id="7" name="TextBox 7"/>
            <p:cNvSpPr txBox="1"/>
            <p:nvPr/>
          </p:nvSpPr>
          <p:spPr>
            <a:xfrm>
              <a:off x="845432" y="1678335"/>
              <a:ext cx="15708540" cy="707602"/>
            </a:xfrm>
            <a:prstGeom prst="rect">
              <a:avLst/>
            </a:prstGeom>
          </p:spPr>
          <p:txBody>
            <a:bodyPr lIns="0" tIns="0" rIns="0" bIns="0" rtlCol="0" anchor="t">
              <a:spAutoFit/>
            </a:bodyPr>
            <a:lstStyle/>
            <a:p>
              <a:pPr algn="ctr">
                <a:lnSpc>
                  <a:spcPts val="4479"/>
                </a:lnSpc>
              </a:pPr>
              <a:endParaRPr/>
            </a:p>
          </p:txBody>
        </p:sp>
      </p:grpSp>
      <p:sp>
        <p:nvSpPr>
          <p:cNvPr id="8" name="TextBox 8"/>
          <p:cNvSpPr txBox="1"/>
          <p:nvPr/>
        </p:nvSpPr>
        <p:spPr>
          <a:xfrm>
            <a:off x="656888" y="2389037"/>
            <a:ext cx="16974223" cy="6581140"/>
          </a:xfrm>
          <a:prstGeom prst="rect">
            <a:avLst/>
          </a:prstGeom>
        </p:spPr>
        <p:txBody>
          <a:bodyPr lIns="0" tIns="0" rIns="0" bIns="0" rtlCol="0" anchor="t">
            <a:spAutoFit/>
          </a:bodyPr>
          <a:lstStyle/>
          <a:p>
            <a:pPr algn="ctr">
              <a:lnSpc>
                <a:spcPts val="4759"/>
              </a:lnSpc>
            </a:pPr>
            <a:r>
              <a:rPr lang="en-US" sz="3399">
                <a:solidFill>
                  <a:srgbClr val="153969"/>
                </a:solidFill>
                <a:latin typeface="Canva Sans"/>
                <a:ea typeface="Canva Sans"/>
                <a:cs typeface="Canva Sans"/>
                <a:sym typeface="Canva Sans"/>
              </a:rPr>
              <a:t>[1] Sudha Arvind; S. Arvind; Vamshi Kumar Silveri; Govardhan Potey; Parameshwar Nunavath; Ranadheep Podishetty, ” Network Traffic Virtualization Using Wireshark and Google Maps”</a:t>
            </a:r>
          </a:p>
          <a:p>
            <a:pPr algn="ctr">
              <a:lnSpc>
                <a:spcPts val="4759"/>
              </a:lnSpc>
            </a:pPr>
            <a:endParaRPr lang="en-US" sz="3399">
              <a:solidFill>
                <a:srgbClr val="153969"/>
              </a:solidFill>
              <a:latin typeface="Canva Sans"/>
              <a:ea typeface="Canva Sans"/>
              <a:cs typeface="Canva Sans"/>
              <a:sym typeface="Canva Sans"/>
            </a:endParaRPr>
          </a:p>
          <a:p>
            <a:pPr algn="ctr">
              <a:lnSpc>
                <a:spcPts val="4759"/>
              </a:lnSpc>
            </a:pPr>
            <a:r>
              <a:rPr lang="en-US" sz="3399">
                <a:solidFill>
                  <a:srgbClr val="153969"/>
                </a:solidFill>
                <a:latin typeface="Canva Sans"/>
                <a:ea typeface="Canva Sans"/>
                <a:cs typeface="Canva Sans"/>
                <a:sym typeface="Canva Sans"/>
              </a:rPr>
              <a:t>[2] Swara S Gingade; Nagashree B; Rishika Mohan V; Mohana, “Real Time Network Traffic Analysis and Visualization using Wireshark and Google Maps” presented at 2023 3rd International Conference on Innovative Mechanisms for Industry Applications (ICIMIA)DOI: 10.1109/ICIMIA60377.202321-23 Dec. 2023</a:t>
            </a:r>
          </a:p>
          <a:p>
            <a:pPr algn="ctr">
              <a:lnSpc>
                <a:spcPts val="4759"/>
              </a:lnSpc>
            </a:pPr>
            <a:endParaRPr lang="en-US" sz="3399">
              <a:solidFill>
                <a:srgbClr val="153969"/>
              </a:solidFill>
              <a:latin typeface="Canva Sans"/>
              <a:ea typeface="Canva Sans"/>
              <a:cs typeface="Canva Sans"/>
              <a:sym typeface="Canva Sans"/>
            </a:endParaRPr>
          </a:p>
          <a:p>
            <a:pPr algn="ctr">
              <a:lnSpc>
                <a:spcPts val="4759"/>
              </a:lnSpc>
            </a:pPr>
            <a:r>
              <a:rPr lang="en-US" sz="3399">
                <a:solidFill>
                  <a:srgbClr val="153969"/>
                </a:solidFill>
                <a:latin typeface="Canva Sans"/>
                <a:ea typeface="Canva Sans"/>
                <a:cs typeface="Canva Sans"/>
                <a:sym typeface="Canva Sans"/>
              </a:rPr>
              <a:t> [3] Devendra Upadhyay; Vineet Bhatia; Sumati Sidharth, “An in-Depth Analysis of Email Protocols Traffic Using Wireshark”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A27E5-1CD6-581F-0810-0FD9483AB6B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074E199-675C-CACE-9AFC-A4366B7355D1}"/>
              </a:ext>
            </a:extLst>
          </p:cNvPr>
          <p:cNvGrpSpPr/>
          <p:nvPr/>
        </p:nvGrpSpPr>
        <p:grpSpPr>
          <a:xfrm>
            <a:off x="0" y="9125919"/>
            <a:ext cx="18288000" cy="1161081"/>
            <a:chOff x="0" y="0"/>
            <a:chExt cx="4816593" cy="305799"/>
          </a:xfrm>
        </p:grpSpPr>
        <p:sp>
          <p:nvSpPr>
            <p:cNvPr id="3" name="Freeform 3">
              <a:extLst>
                <a:ext uri="{FF2B5EF4-FFF2-40B4-BE49-F238E27FC236}">
                  <a16:creationId xmlns:a16="http://schemas.microsoft.com/office/drawing/2014/main" id="{DE051125-E6FB-F445-C9AB-3FD74986C449}"/>
                </a:ext>
              </a:extLst>
            </p:cNvPr>
            <p:cNvSpPr/>
            <p:nvPr/>
          </p:nvSpPr>
          <p:spPr>
            <a:xfrm>
              <a:off x="0" y="0"/>
              <a:ext cx="4816592" cy="305799"/>
            </a:xfrm>
            <a:custGeom>
              <a:avLst/>
              <a:gdLst/>
              <a:ahLst/>
              <a:cxnLst/>
              <a:rect l="l" t="t" r="r" b="b"/>
              <a:pathLst>
                <a:path w="4816592" h="305799">
                  <a:moveTo>
                    <a:pt x="0" y="0"/>
                  </a:moveTo>
                  <a:lnTo>
                    <a:pt x="4816592" y="0"/>
                  </a:lnTo>
                  <a:lnTo>
                    <a:pt x="4816592" y="305799"/>
                  </a:lnTo>
                  <a:lnTo>
                    <a:pt x="0" y="305799"/>
                  </a:lnTo>
                  <a:close/>
                </a:path>
              </a:pathLst>
            </a:custGeom>
            <a:solidFill>
              <a:srgbClr val="153969"/>
            </a:solidFill>
          </p:spPr>
        </p:sp>
        <p:sp>
          <p:nvSpPr>
            <p:cNvPr id="4" name="TextBox 4">
              <a:extLst>
                <a:ext uri="{FF2B5EF4-FFF2-40B4-BE49-F238E27FC236}">
                  <a16:creationId xmlns:a16="http://schemas.microsoft.com/office/drawing/2014/main" id="{A64AF09C-5637-048C-924C-B60A73E4CF37}"/>
                </a:ext>
              </a:extLst>
            </p:cNvPr>
            <p:cNvSpPr txBox="1"/>
            <p:nvPr/>
          </p:nvSpPr>
          <p:spPr>
            <a:xfrm>
              <a:off x="0" y="-38100"/>
              <a:ext cx="4816593" cy="343899"/>
            </a:xfrm>
            <a:prstGeom prst="rect">
              <a:avLst/>
            </a:prstGeom>
          </p:spPr>
          <p:txBody>
            <a:bodyPr lIns="50800" tIns="50800" rIns="50800" bIns="50800" rtlCol="0" anchor="ctr"/>
            <a:lstStyle/>
            <a:p>
              <a:pPr algn="ctr">
                <a:lnSpc>
                  <a:spcPts val="2100"/>
                </a:lnSpc>
              </a:pPr>
              <a:endParaRPr/>
            </a:p>
          </p:txBody>
        </p:sp>
      </p:grpSp>
      <p:grpSp>
        <p:nvGrpSpPr>
          <p:cNvPr id="5" name="Group 5">
            <a:extLst>
              <a:ext uri="{FF2B5EF4-FFF2-40B4-BE49-F238E27FC236}">
                <a16:creationId xmlns:a16="http://schemas.microsoft.com/office/drawing/2014/main" id="{4D259322-B9D4-49D4-54F5-ECFC6D879E6A}"/>
              </a:ext>
            </a:extLst>
          </p:cNvPr>
          <p:cNvGrpSpPr/>
          <p:nvPr/>
        </p:nvGrpSpPr>
        <p:grpSpPr>
          <a:xfrm>
            <a:off x="2308230" y="301462"/>
            <a:ext cx="13049553" cy="1789453"/>
            <a:chOff x="0" y="0"/>
            <a:chExt cx="17399404" cy="2385937"/>
          </a:xfrm>
        </p:grpSpPr>
        <p:sp>
          <p:nvSpPr>
            <p:cNvPr id="6" name="TextBox 6">
              <a:extLst>
                <a:ext uri="{FF2B5EF4-FFF2-40B4-BE49-F238E27FC236}">
                  <a16:creationId xmlns:a16="http://schemas.microsoft.com/office/drawing/2014/main" id="{90330A95-FF64-55C4-2EE3-4DC605AEA20D}"/>
                </a:ext>
              </a:extLst>
            </p:cNvPr>
            <p:cNvSpPr txBox="1"/>
            <p:nvPr/>
          </p:nvSpPr>
          <p:spPr>
            <a:xfrm>
              <a:off x="0" y="-76200"/>
              <a:ext cx="17399404" cy="1494367"/>
            </a:xfrm>
            <a:prstGeom prst="rect">
              <a:avLst/>
            </a:prstGeom>
          </p:spPr>
          <p:txBody>
            <a:bodyPr lIns="0" tIns="0" rIns="0" bIns="0" rtlCol="0" anchor="t">
              <a:spAutoFit/>
            </a:bodyPr>
            <a:lstStyle/>
            <a:p>
              <a:pPr algn="ctr">
                <a:lnSpc>
                  <a:spcPts val="9099"/>
                </a:lnSpc>
              </a:pPr>
              <a:r>
                <a:rPr lang="en-US" sz="6999" b="1" dirty="0">
                  <a:solidFill>
                    <a:srgbClr val="153969"/>
                  </a:solidFill>
                  <a:latin typeface="Klein Bold"/>
                  <a:ea typeface="Klein Bold"/>
                  <a:cs typeface="Klein Bold"/>
                  <a:sym typeface="Klein Bold"/>
                </a:rPr>
                <a:t>References</a:t>
              </a:r>
            </a:p>
          </p:txBody>
        </p:sp>
        <p:sp>
          <p:nvSpPr>
            <p:cNvPr id="7" name="TextBox 7">
              <a:extLst>
                <a:ext uri="{FF2B5EF4-FFF2-40B4-BE49-F238E27FC236}">
                  <a16:creationId xmlns:a16="http://schemas.microsoft.com/office/drawing/2014/main" id="{D3F52C7B-8C52-6313-56B7-19439347B48D}"/>
                </a:ext>
              </a:extLst>
            </p:cNvPr>
            <p:cNvSpPr txBox="1"/>
            <p:nvPr/>
          </p:nvSpPr>
          <p:spPr>
            <a:xfrm>
              <a:off x="845432" y="1678335"/>
              <a:ext cx="15708540" cy="707602"/>
            </a:xfrm>
            <a:prstGeom prst="rect">
              <a:avLst/>
            </a:prstGeom>
          </p:spPr>
          <p:txBody>
            <a:bodyPr lIns="0" tIns="0" rIns="0" bIns="0" rtlCol="0" anchor="t">
              <a:spAutoFit/>
            </a:bodyPr>
            <a:lstStyle/>
            <a:p>
              <a:pPr algn="ctr">
                <a:lnSpc>
                  <a:spcPts val="4479"/>
                </a:lnSpc>
              </a:pPr>
              <a:endParaRPr/>
            </a:p>
          </p:txBody>
        </p:sp>
      </p:grpSp>
      <p:sp>
        <p:nvSpPr>
          <p:cNvPr id="8" name="TextBox 8">
            <a:extLst>
              <a:ext uri="{FF2B5EF4-FFF2-40B4-BE49-F238E27FC236}">
                <a16:creationId xmlns:a16="http://schemas.microsoft.com/office/drawing/2014/main" id="{00ED60C5-686F-A0B9-79BD-CCD566C86A4D}"/>
              </a:ext>
            </a:extLst>
          </p:cNvPr>
          <p:cNvSpPr txBox="1"/>
          <p:nvPr/>
        </p:nvSpPr>
        <p:spPr>
          <a:xfrm>
            <a:off x="656888" y="2389037"/>
            <a:ext cx="16974223" cy="3045193"/>
          </a:xfrm>
          <a:prstGeom prst="rect">
            <a:avLst/>
          </a:prstGeom>
        </p:spPr>
        <p:txBody>
          <a:bodyPr lIns="0" tIns="0" rIns="0" bIns="0" rtlCol="0" anchor="t">
            <a:spAutoFit/>
          </a:bodyPr>
          <a:lstStyle/>
          <a:p>
            <a:pPr algn="ctr">
              <a:lnSpc>
                <a:spcPts val="4759"/>
              </a:lnSpc>
            </a:pPr>
            <a:r>
              <a:rPr lang="en-US" sz="3600" dirty="0"/>
              <a:t>[4] Adam Streeter, “ Adam's Guide To Packet Capture Analysis Using Wireshark “ </a:t>
            </a:r>
          </a:p>
          <a:p>
            <a:pPr algn="ctr">
              <a:lnSpc>
                <a:spcPts val="4759"/>
              </a:lnSpc>
            </a:pPr>
            <a:endParaRPr lang="en-US" sz="3600" dirty="0">
              <a:solidFill>
                <a:srgbClr val="153969"/>
              </a:solidFill>
              <a:latin typeface="Canva Sans"/>
              <a:ea typeface="Canva Sans"/>
              <a:cs typeface="Canva Sans"/>
              <a:sym typeface="Canva Sans"/>
            </a:endParaRPr>
          </a:p>
          <a:p>
            <a:pPr algn="ctr">
              <a:lnSpc>
                <a:spcPts val="4759"/>
              </a:lnSpc>
            </a:pPr>
            <a:r>
              <a:rPr lang="en-US" sz="3600" dirty="0"/>
              <a:t>[5] Tan; </a:t>
            </a:r>
            <a:r>
              <a:rPr lang="en-US" sz="3600" dirty="0" err="1"/>
              <a:t>W.Zhao</a:t>
            </a:r>
            <a:r>
              <a:rPr lang="en-US" sz="3600" dirty="0"/>
              <a:t>; </a:t>
            </a:r>
            <a:r>
              <a:rPr lang="en-US" sz="3600" dirty="0" err="1"/>
              <a:t>R.Bettati</a:t>
            </a:r>
            <a:r>
              <a:rPr lang="en-US" sz="3600" dirty="0"/>
              <a:t>, “ Transmission delay analysis in high-speed networks. IEEE Transactions on Communications, 67(8), 5504-5513.” https://doi.org/10.1109/TCOMM.2019.2912029 (2019) </a:t>
            </a:r>
            <a:endParaRPr lang="en-US" sz="3399" dirty="0">
              <a:solidFill>
                <a:srgbClr val="153969"/>
              </a:solidFill>
              <a:latin typeface="Canva Sans"/>
              <a:ea typeface="Canva Sans"/>
              <a:cs typeface="Canva Sans"/>
              <a:sym typeface="Canva Sans"/>
            </a:endParaRPr>
          </a:p>
        </p:txBody>
      </p:sp>
    </p:spTree>
    <p:extLst>
      <p:ext uri="{BB962C8B-B14F-4D97-AF65-F5344CB8AC3E}">
        <p14:creationId xmlns:p14="http://schemas.microsoft.com/office/powerpoint/2010/main" val="1862444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1044</Words>
  <Application>Microsoft Office PowerPoint</Application>
  <PresentationFormat>Custom</PresentationFormat>
  <Paragraphs>125</Paragraphs>
  <Slides>15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Calibri</vt:lpstr>
      <vt:lpstr>Arial</vt:lpstr>
      <vt:lpstr>Klein Bold</vt:lpstr>
      <vt:lpstr>Canva Sans</vt:lpstr>
      <vt:lpstr>Helios Bold</vt:lpstr>
      <vt:lpstr>Canva Sans Bold</vt:lpstr>
      <vt:lpstr>Helios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Profile</dc:title>
  <cp:lastModifiedBy>jayasuriya77721@outlook.com</cp:lastModifiedBy>
  <cp:revision>2</cp:revision>
  <dcterms:created xsi:type="dcterms:W3CDTF">2006-08-16T00:00:00Z</dcterms:created>
  <dcterms:modified xsi:type="dcterms:W3CDTF">2025-08-18T14:02:46Z</dcterms:modified>
  <dc:identifier>DAGwa_GXshk</dc:identifier>
</cp:coreProperties>
</file>